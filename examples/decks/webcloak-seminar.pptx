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7" r:id="rId2"/>
    <p:sldId id="631" r:id="rId3"/>
    <p:sldId id="601" r:id="rId4"/>
    <p:sldId id="258" r:id="rId5"/>
    <p:sldId id="264" r:id="rId6"/>
    <p:sldId id="546" r:id="rId7"/>
    <p:sldId id="650" r:id="Re350072495994f01"/>
    <p:sldId id="649" r:id="Rf8513efc4d604539"/>
    <p:sldId id="648" r:id="Refcb32df86814513"/>
    <p:sldId id="647" r:id="Rd87cd1607ed04418"/>
    <p:sldId id="312" r:id="rId8"/>
    <p:sldId id="422" r:id="rId9"/>
    <p:sldId id="646" r:id="Rb000f3034eaf427d"/>
    <p:sldId id="645" r:id="R768a0b22d19b4247"/>
    <p:sldId id="644" r:id="Rcbbf52d8acb047b3"/>
    <p:sldId id="643" r:id="R50ccd2b6676e4aae"/>
    <p:sldId id="642" r:id="R5dc03419d0c54141"/>
    <p:sldId id="315" r:id="rId10"/>
    <p:sldId id="583" r:id="rId11"/>
    <p:sldId id="641" r:id="R9ad70e24d10244ca"/>
    <p:sldId id="640" r:id="R204a1dbe87ef429d"/>
    <p:sldId id="639" r:id="R924ba3f0bd24445e"/>
    <p:sldId id="638" r:id="Re51e802ce3494199"/>
    <p:sldId id="637" r:id="R0ee503c4ef98443f"/>
    <p:sldId id="636" r:id="Ra6153751271c43ca"/>
    <p:sldId id="635" r:id="R92ed6e70e4574803"/>
    <p:sldId id="634" r:id="Rb8f1696ffbdc4775"/>
    <p:sldId id="343" r:id="rId12"/>
    <p:sldId id="630" r:id="rId13"/>
    <p:sldId id="633" r:id="R7038f81820e04007"/>
    <p:sldId id="632" r:id="Rd23629feddce407a"/>
    <p:sldId id="29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009A46"/>
    <a:srgbClr val="FF0000"/>
    <a:srgbClr val="174994"/>
    <a:srgbClr val="E6AF00"/>
    <a:srgbClr val="194A96"/>
    <a:srgbClr val="3494BA"/>
    <a:srgbClr val="7F7F7F"/>
    <a:srgbClr val="324274"/>
    <a:srgbClr val="01B0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95664" autoAdjust="0"/>
  </p:normalViewPr>
  <p:slideViewPr>
    <p:cSldViewPr snapToGrid="0">
      <p:cViewPr varScale="1">
        <p:scale>
          <a:sx n="116" d="100"/>
          <a:sy n="116" d="100"/>
        </p:scale>
        <p:origin x="806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slide" Target="slides/slide12.xml" Id="rId13" /><Relationship Type="http://schemas.openxmlformats.org/officeDocument/2006/relationships/theme" Target="theme/theme1.xml" Id="rId18" /><Relationship Type="http://schemas.openxmlformats.org/officeDocument/2006/relationships/slide" Target="slides/slide2.xml" Id="rId3" /><Relationship Type="http://schemas.openxmlformats.org/officeDocument/2006/relationships/slide" Target="slides/slide6.xml" Id="rId7" /><Relationship Type="http://schemas.openxmlformats.org/officeDocument/2006/relationships/slide" Target="slides/slide11.xml" Id="rId12" /><Relationship Type="http://schemas.openxmlformats.org/officeDocument/2006/relationships/viewProps" Target="viewProps.xml" Id="rId17" /><Relationship Type="http://schemas.openxmlformats.org/officeDocument/2006/relationships/slide" Target="slides/slide1.xml" Id="rId2" /><Relationship Type="http://schemas.openxmlformats.org/officeDocument/2006/relationships/presProps" Target="presProps.xml" Id="rId16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slide" Target="slides/slide10.xml" Id="rId11" /><Relationship Type="http://schemas.openxmlformats.org/officeDocument/2006/relationships/slide" Target="slides/slide4.xml" Id="rId5" /><Relationship Type="http://schemas.openxmlformats.org/officeDocument/2006/relationships/notesMaster" Target="notesMasters/notesMaster1.xml" Id="rId15" /><Relationship Type="http://schemas.openxmlformats.org/officeDocument/2006/relationships/slide" Target="slides/slide9.xml" Id="rId10" /><Relationship Type="http://schemas.openxmlformats.org/officeDocument/2006/relationships/tableStyles" Target="tableStyles.xml" Id="rId19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slide" Target="slides/slide13.xml" Id="rId14" /><Relationship Type="http://schemas.openxmlformats.org/officeDocument/2006/relationships/slide" Target="/ppt/slides/slide14.xml" Id="Rd23629feddce407a" /><Relationship Type="http://schemas.openxmlformats.org/officeDocument/2006/relationships/slide" Target="/ppt/slides/slide15.xml" Id="R7038f81820e04007" /><Relationship Type="http://schemas.openxmlformats.org/officeDocument/2006/relationships/slide" Target="/ppt/slides/slide16.xml" Id="Rb8f1696ffbdc4775" /><Relationship Type="http://schemas.openxmlformats.org/officeDocument/2006/relationships/slide" Target="/ppt/slides/slide17.xml" Id="R92ed6e70e4574803" /><Relationship Type="http://schemas.openxmlformats.org/officeDocument/2006/relationships/slide" Target="/ppt/slides/slide18.xml" Id="Ra6153751271c43ca" /><Relationship Type="http://schemas.openxmlformats.org/officeDocument/2006/relationships/slide" Target="/ppt/slides/slide19.xml" Id="R0ee503c4ef98443f" /><Relationship Type="http://schemas.openxmlformats.org/officeDocument/2006/relationships/slide" Target="/ppt/slides/slide20.xml" Id="Re51e802ce3494199" /><Relationship Type="http://schemas.openxmlformats.org/officeDocument/2006/relationships/slide" Target="/ppt/slides/slide21.xml" Id="R924ba3f0bd24445e" /><Relationship Type="http://schemas.openxmlformats.org/officeDocument/2006/relationships/slide" Target="/ppt/slides/slide22.xml" Id="R204a1dbe87ef429d" /><Relationship Type="http://schemas.openxmlformats.org/officeDocument/2006/relationships/slide" Target="/ppt/slides/slide23.xml" Id="R9ad70e24d10244ca" /><Relationship Type="http://schemas.openxmlformats.org/officeDocument/2006/relationships/slide" Target="/ppt/slides/slide24.xml" Id="R5dc03419d0c54141" /><Relationship Type="http://schemas.openxmlformats.org/officeDocument/2006/relationships/slide" Target="/ppt/slides/slide25.xml" Id="R50ccd2b6676e4aae" /><Relationship Type="http://schemas.openxmlformats.org/officeDocument/2006/relationships/slide" Target="/ppt/slides/slide26.xml" Id="Rcbbf52d8acb047b3" /><Relationship Type="http://schemas.openxmlformats.org/officeDocument/2006/relationships/slide" Target="/ppt/slides/slide27.xml" Id="R768a0b22d19b4247" /><Relationship Type="http://schemas.openxmlformats.org/officeDocument/2006/relationships/slide" Target="/ppt/slides/slide28.xml" Id="Rb000f3034eaf427d" /><Relationship Type="http://schemas.openxmlformats.org/officeDocument/2006/relationships/slide" Target="/ppt/slides/slide29.xml" Id="Rd87cd1607ed04418" /><Relationship Type="http://schemas.openxmlformats.org/officeDocument/2006/relationships/slide" Target="/ppt/slides/slide30.xml" Id="Refcb32df86814513" /><Relationship Type="http://schemas.openxmlformats.org/officeDocument/2006/relationships/slide" Target="/ppt/slides/slide31.xml" Id="Rf8513efc4d604539" /><Relationship Type="http://schemas.openxmlformats.org/officeDocument/2006/relationships/slide" Target="/ppt/slides/slide32.xml" Id="Re350072495994f01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  <a:pPr/>
              <a:t>2026/7/21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4a1b170c3146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049b3b040f4f3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015543ab4df49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777283cd9141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d2bab2a274b409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c81c4158d8242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52d570ef468452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4a9830229d448b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e1a7a374c144c7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5489193f8ce4d6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a4d49a97012492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afb7d0bf5784fb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165b5c87563409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3a41c2f84b24a0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c494fd5c4104f1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11be664ad4d40e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d27ba904c024f2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4904ffc63d445e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ada5d4c98b14b29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4D3D7-99CD-CE16-1ED2-A87A652F1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E0F462-C648-46C2-910F-DC12643B8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1A86AF-C595-1E24-75F3-EA9576EA3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https://par.nsf.gov/servlets/purl/10349225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90216A-59B5-E470-7702-3FA13A5D1E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066664"/>
      </p:ext>
    </p:extLst>
  </p:cSld>
  <p:clrMapOvr>
    <a:masterClrMapping/>
  </p:clrMapOvr>
</p:notes>
</file>

<file path=ppt/notesSlides/notesSlide3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CE3FC-3BD8-AF97-5F06-A9D9D1841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764621-2006-D48A-D327-62204D633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2F5AC5-F07C-C4A2-512C-7DFE0CB48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https://par.nsf.gov/servlets/purl/10349225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B39F3A-8197-A885-51F0-D24083BC2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639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A96A-E3B0-5E3C-3C1E-1D871297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E5664C-55F0-C517-47F3-3D8542841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266E3B-D564-CDBF-5CEF-234C94034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先明确这不是传统 agent 被 prompt injection 欺骗的场景。论文的攻击者能力被刻意限定在新手到中等水平，这一限定决定后续 0% 结果的解释边界。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33A185-5497-D99C-6455-4EE80E423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551340"/>
      </p:ext>
    </p:extLst>
  </p:cSld>
  <p:clrMapOvr>
    <a:masterClrMapping/>
  </p:clrMapOvr>
</p:notes>
</file>

<file path=ppt/notesSlides/notesSlide7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152921"/>
      </p:ext>
    </p:extLst>
  </p:cSld>
  <p:clrMapOvr>
    <a:masterClrMapping/>
  </p:clrMapOvr>
</p:notes>
</file>

<file path=ppt/notesSlides/notesSlide8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先用一句话解释两层分别对应 parse 和 interpret。WebCloak 不依赖服务器端行为分析或 CAPTCHA，其核心工作发生在页面转换与客户端恢复。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784064"/>
      </p:ext>
    </p:extLst>
  </p:cSld>
  <p:clrMapOvr>
    <a:masterClrMapping/>
  </p:clrMapOvr>
</p:notes>
</file>

<file path=ppt/notesSlides/notesSlide9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727349"/>
      </p:ext>
    </p:extLst>
  </p:cSld>
  <p:clrMapOvr>
    <a:masterClrMapping/>
  </p:clrMapOvr>
</p:notes>
</file>

<file path=ppt/notesSlides/notesSlide10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547E-7549-EDF2-DE97-C47BE4A5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F2B371-EFC3-752D-2F9F-260BCD335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1C1E6F-4AA4-C0F6-AB69-F9DE87767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提醒听众 Table 5 的 88.7% 是有意挑选的 27 个高风险页面平均值，而完整 benchmark 的三种原始召回分别是 57.5%、62.5%、54.4%。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B7D4A-F4F1-30B6-A10B-51878E7A2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98207"/>
      </p:ext>
    </p:extLst>
  </p:cSld>
  <p:clrMapOvr>
    <a:masterClrMapping/>
  </p:clrMapOvr>
</p:notes>
</file>

<file path=ppt/notesSlides/notesSlide1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058330"/>
      </p:ext>
    </p:extLst>
  </p:cSld>
  <p:clrMapOvr>
    <a:masterClrMapping/>
  </p:clrMapOvr>
</p:notes>
</file>

<file path=ppt/notesSlides/notesSlide12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FB5C-57AD-D417-C12A-5B8C78BF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ECB56C-FA3F-7614-988B-8FDB961EE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97190B-B3CA-238F-BE54-96C1267F6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明确这页是汇报者分析。可以把方法迁移到 API agent、数据清洗 agent 或其他依赖固定中间表示的自动化系统，但需重新验证等价性与用户影响。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EC260F-924E-B8B8-973A-5D8A79F8F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575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FB5C-57AD-D417-C12A-5B8C78BF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ECB56C-FA3F-7614-988B-8FDB961EE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97190B-B3CA-238F-BE54-96C1267F6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最后回到题目：characterize 让 threat 可测，mitigate 让机制可防。结论保持在“提高规模化成本”而不是“彻底解决抓取”这一可信范围内。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EC260F-924E-B8B8-973A-5D8A79F8F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575452"/>
      </p:ext>
    </p:extLst>
  </p:cSld>
  <p:clrMapOvr>
    <a:masterClrMapping/>
  </p:clrMapOvr>
</p:notes>
</file>

<file path=ppt/notesSlides/notesSlide15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FB5C-57AD-D417-C12A-5B8C78BF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ECB56C-FA3F-7614-988B-8FDB961EE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97190B-B3CA-238F-BE54-96C1267F6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作者在 Appendix E 以动态渲染和适应性攻击结果回应“增益有限”的质疑，但社交媒体缺失与 Part 2 新颖性问题仍然成立。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EC260F-924E-B8B8-973A-5D8A79F8F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575452"/>
      </p:ext>
    </p:extLst>
  </p:cSld>
  <p:clrMapOvr>
    <a:masterClrMapping/>
  </p:clrMapOvr>
</p:notes>
</file>

<file path=ppt/notesSlides/notesSlide16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547E-7549-EDF2-DE97-C47BE4A5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F2B371-EFC3-752D-2F9F-260BCD335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1C1E6F-4AA4-C0F6-AB69-F9DE87767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说明重绘只使用表格与正文中的可选择数值，没有从图形估算。Part 2 三分钟成本是论文最实际的部署约束之一。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B7D4A-F4F1-30B6-A10B-51878E7A2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98207"/>
      </p:ext>
    </p:extLst>
  </p:cSld>
  <p:clrMapOvr>
    <a:masterClrMapping/>
  </p:clrMapOvr>
</p:notes>
</file>

<file path=ppt/notesSlides/notesSlide17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547E-7549-EDF2-DE97-C47BE4A5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F2B371-EFC3-752D-2F9F-260BCD335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1C1E6F-4AA4-C0F6-AB69-F9DE87767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用户研究比较五个随机网页对，量表 1 表示无负面影响、7 表示重大影响。报告时同时提到客观性能小幅下降，不要只说“完全无损”。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B7D4A-F4F1-30B6-A10B-51878E7A2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98207"/>
      </p:ext>
    </p:extLst>
  </p:cSld>
  <p:clrMapOvr>
    <a:masterClrMapping/>
  </p:clrMapOvr>
</p:notes>
</file>

<file path=ppt/notesSlides/notesSlide18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547E-7549-EDF2-DE97-C47BE4A5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F2B371-EFC3-752D-2F9F-260BCD335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1C1E6F-4AA4-C0F6-AB69-F9DE87767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这不是完整 WebCloak 的退化曲线，而是为隔离语义层只启用 Part 2。完整方案还保留结构层，因此不能直接把图中 100% 删除点当作总体绕过率。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B7D4A-F4F1-30B6-A10B-51878E7A2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98207"/>
      </p:ext>
    </p:extLst>
  </p:cSld>
  <p:clrMapOvr>
    <a:masterClrMapping/>
  </p:clrMapOvr>
</p:notes>
</file>

<file path=ppt/notesSlides/notesSlide19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547E-7549-EDF2-DE97-C47BE4A5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F2B371-EFC3-752D-2F9F-260BCD335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1C1E6F-4AA4-C0F6-AB69-F9DE87767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Table 9 的静态基线对比帮助说明随机化价值，Table 10 则是完整双层方案。多轮攻击只适用于保留会话的 L2S，其他两个工具每任务重置。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B7D4A-F4F1-30B6-A10B-51878E7A2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98207"/>
      </p:ext>
    </p:extLst>
  </p:cSld>
  <p:clrMapOvr>
    <a:masterClrMapping/>
  </p:clrMapOvr>
</p:notes>
</file>

<file path=ppt/notesSlides/notesSlide20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547E-7549-EDF2-DE97-C47BE4A5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F2B371-EFC3-752D-2F9F-260BCD335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1C1E6F-4AA4-C0F6-AB69-F9DE87767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浏览器与 OS 结果只对 Browser-Use 单独测试。跨后端表中 DeepSeek 的 2.9% 异常页提醒我们不要把所有鲁棒性表述为绝对零。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B7D4A-F4F1-30B6-A10B-51878E7A2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98207"/>
      </p:ext>
    </p:extLst>
  </p:cSld>
  <p:clrMapOvr>
    <a:masterClrMapping/>
  </p:clrMapOvr>
</p:notes>
</file>

<file path=ppt/notesSlides/notesSlide21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547E-7549-EDF2-DE97-C47BE4A5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F2B371-EFC3-752D-2F9F-260BCD335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1C1E6F-4AA4-C0F6-AB69-F9DE87767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这里的准确表述是“支持泛化”，不是“证明普适”。音频和文本只在补充集测试，且任务定义比开放网页资产保护更窄。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B7D4A-F4F1-30B6-A10B-51878E7A2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98207"/>
      </p:ext>
    </p:extLst>
  </p:cSld>
  <p:clrMapOvr>
    <a:masterClrMapping/>
  </p:clrMapOvr>
</p:notes>
</file>

<file path=ppt/notesSlides/notesSlide22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547E-7549-EDF2-DE97-C47BE4A5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F2B371-EFC3-752D-2F9F-260BCD335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1C1E6F-4AA4-C0F6-AB69-F9DE87767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对抗指令只代表提示层面的低成本绕过，不等同于修改 agent 解析内核。Appendix C.2 给出完整 prompt，可用于复现实验条件。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B7D4A-F4F1-30B6-A10B-51878E7A2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98207"/>
      </p:ext>
    </p:extLst>
  </p:cSld>
  <p:clrMapOvr>
    <a:masterClrMapping/>
  </p:clrMapOvr>
</p:notes>
</file>

<file path=ppt/notesSlides/notesSlide23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547E-7549-EDF2-DE97-C47BE4A5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F2B371-EFC3-752D-2F9F-260BCD335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1C1E6F-4AA4-C0F6-AB69-F9DE87767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不要把 88.7% 说成完整 benchmark 平均。表中原始网页本身仍保留真实站点复杂度和既有防护，不是完全裸网页。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B7D4A-F4F1-30B6-A10B-51878E7A2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98207"/>
      </p:ext>
    </p:extLst>
  </p:cSld>
  <p:clrMapOvr>
    <a:masterClrMapping/>
  </p:clrMapOvr>
</p:notes>
</file>

<file path=ppt/notesSlides/notesSlide24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这一页用来收束方法并过渡到评估。后续基线实验分别显示静态结构替换和朴素语义警告都不足，完整双层方案才实现稳定阻断。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784064"/>
      </p:ext>
    </p:extLst>
  </p:cSld>
  <p:clrMapOvr>
    <a:masterClrMapping/>
  </p:clrMapOvr>
</p:notes>
</file>

<file path=ppt/notesSlides/notesSlide2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指出优化开销主要来自这一阶段，平均约三分钟每页。论文通过先找模板、再按上下文迁移来减少完整搜索成本，但动态内容仍是明显挑战。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784064"/>
      </p:ext>
    </p:extLst>
  </p:cSld>
  <p:clrMapOvr>
    <a:masterClrMapping/>
  </p:clrMapOvr>
</p:notes>
</file>

<file path=ppt/notesSlides/notesSlide26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这一层本质上使用防御性 prompt injection。汇报时应承认该想法本身并非完全新颖，论文的新意主要在系统优化、与动态结构层协同及完整评估。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784064"/>
      </p:ext>
    </p:extLst>
  </p:cSld>
  <p:clrMapOvr>
    <a:masterClrMapping/>
  </p:clrMapOvr>
</p:notes>
</file>

<file path=ppt/notesSlides/notesSlide27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这里要区分 HTML 源、加载后的 DOM、Shadow DOM 和最终视觉。论文称浏览器自动化对真实 URL 的可见性显著降低，但并未宣称物理不可读取。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784064"/>
      </p:ext>
    </p:extLst>
  </p:cSld>
  <p:clrMapOvr>
    <a:masterClrMapping/>
  </p:clrMapOvr>
</p:notes>
</file>

<file path=ppt/notesSlides/notesSlide28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强调动态性是相对静态标签替换的关键。论文在 Table 9 证明静态模式被告知后召回回升，而每会话随机化仍保持近零。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784064"/>
      </p:ext>
    </p:extLst>
  </p:cSld>
  <p:clrMapOvr>
    <a:masterClrMapping/>
  </p:clrMapOvr>
</p:notes>
</file>

<file path=ppt/notesSlides/notesSlide29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A96A-E3B0-5E3C-3C1E-1D871297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E5664C-55F0-C517-47F3-3D8542841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266E3B-D564-CDBF-5CEF-234C94034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这页是整场报告的逻辑枢纽：前半部分用测量找到机制，后半部分用同一机制解释双层防御。不要把 parse-then-interpret 说成所有未来 agent 的必然结构。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33A185-5497-D99C-6455-4EE80E423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551340"/>
      </p:ext>
    </p:extLst>
  </p:cSld>
  <p:clrMapOvr>
    <a:masterClrMapping/>
  </p:clrMapOvr>
</p:notes>
</file>

<file path=ppt/notesSlides/notesSlide30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A96A-E3B0-5E3C-3C1E-1D871297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E5664C-55F0-C517-47F3-3D8542841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266E3B-D564-CDBF-5CEF-234C94034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图中零值包括工具不成熟或任务不匹配，不应误读为整个范式无风险。论文选择每类最强代表进入完整 benchmark 深入分析。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33A185-5497-D99C-6455-4EE80E423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551340"/>
      </p:ext>
    </p:extLst>
  </p:cSld>
  <p:clrMapOvr>
    <a:masterClrMapping/>
  </p:clrMapOvr>
</p:notes>
</file>

<file path=ppt/notesSlides/notesSlide31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A96A-E3B0-5E3C-3C1E-1D871297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E5664C-55F0-C517-47F3-3D8542841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266E3B-D564-CDBF-5CEF-234C94034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补充平均每页 HTML 达 332,079 tokens，解释为什么直接把完整 HTML 交给 LLM 并不现实。附录 A 给出动态脚本与资源本地化细节。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33A185-5497-D99C-6455-4EE80E423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551340"/>
      </p:ext>
    </p:extLst>
  </p:cSld>
  <p:clrMapOvr>
    <a:masterClrMapping/>
  </p:clrMapOvr>
</p:notes>
</file>

<file path=ppt/notesSlides/notesSlide32.xml><?xml version="1.0" encoding="utf-8"?>
<p:notes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A96A-E3B0-5E3C-3C1E-1D871297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E5664C-55F0-C517-47F3-3D8542841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266E3B-D564-CDBF-5CEF-234C94034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强调三类范式并不等同于同一种执行方式，但都让非专家更容易完成抓取。后续测量和防御都围绕这三类代表工具展开。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33A185-5497-D99C-6455-4EE80E423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551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0AC93B-E018-95AF-8E8C-30FAFC2F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0522-4534-494A-8A22-5D68305FC39E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0D6E26-5532-A38E-14DE-DDA06D57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4BA683-38CA-D0A9-96F7-7C1C663B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659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16="http://schemas.microsoft.com/office/drawing/2014/main" xmlns:a14="http://schemas.microsoft.com/office/drawing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type="blank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7DE7-C3A1-4C68-B2FD-06364FBE0258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537538-28AC-433E-BF5C-8E03C2FE02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1577" y="136525"/>
            <a:ext cx="1967014" cy="4124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无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3680-21F8-4BFB-BBFA-7D8AC7E80914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D528EF-EA28-4C20-998E-2BE13009E6A5}"/>
              </a:ext>
            </a:extLst>
          </p:cNvPr>
          <p:cNvSpPr/>
          <p:nvPr userDrawn="1"/>
        </p:nvSpPr>
        <p:spPr>
          <a:xfrm>
            <a:off x="4642449" y="1975449"/>
            <a:ext cx="2907102" cy="2907102"/>
          </a:xfrm>
          <a:prstGeom prst="rect">
            <a:avLst/>
          </a:prstGeom>
          <a:blipFill dpi="0" rotWithShape="1">
            <a:blip r:embed="rId2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6454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1C7FB-8312-495C-986C-31DB16C1507B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../notesSlides/notesSlide2.xml" Id="rId2" /><Relationship Type="http://schemas.openxmlformats.org/officeDocument/2006/relationships/slideLayout" Target="../slideLayouts/slideLayout2.xml" Id="rId1" /><Relationship Type="http://schemas.openxmlformats.org/officeDocument/2006/relationships/image" Target="/ppt/media/image9.png" Id="Ra66bb4c26ce94e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../notesSlides/notesSlide3.xml" Id="rId2" /><Relationship Type="http://schemas.openxmlformats.org/officeDocument/2006/relationships/slideLayout" Target="../slideLayouts/slideLayout2.xml" Id="rId1" /><Relationship Type="http://schemas.openxmlformats.org/officeDocument/2006/relationships/image" Target="/ppt/media/image10.png" Id="Ra85478759ac748ac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../media/image7.png" Id="rId3" /><Relationship Type="http://schemas.openxmlformats.org/officeDocument/2006/relationships/notesSlide" Target="../notesSlides/notesSlide6.xml" Id="rId2" /><Relationship Type="http://schemas.openxmlformats.org/officeDocument/2006/relationships/slideLayout" Target="../slideLayouts/slideLayout2.xml" Id="rId1" /><Relationship Type="http://schemas.openxmlformats.org/officeDocument/2006/relationships/image" Target="/ppt/media/image11.png" Id="R52d11985a0ce404c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../media/image7.png" Id="rId3" /><Relationship Type="http://schemas.openxmlformats.org/officeDocument/2006/relationships/notesSlide" Target="../notesSlides/notesSlide8.xml" Id="rId2" /><Relationship Type="http://schemas.openxmlformats.org/officeDocument/2006/relationships/slideLayout" Target="../slideLayouts/slideLayout2.xml" Id="rId1" /><Relationship Type="http://schemas.openxmlformats.org/officeDocument/2006/relationships/image" Target="/ppt/media/image16.png" Id="R9d938bc0b4384aa0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../media/image7.png" Id="rId3" /><Relationship Type="http://schemas.openxmlformats.org/officeDocument/2006/relationships/notesSlide" Target="../notesSlides/notesSlide10.xml" Id="rId2" /><Relationship Type="http://schemas.openxmlformats.org/officeDocument/2006/relationships/slideLayout" Target="../slideLayouts/slideLayout2.xml" Id="rId1" /><Relationship Type="http://schemas.openxmlformats.org/officeDocument/2006/relationships/image" Target="/ppt/media/image22.png" Id="R0c13c18ad228476e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../media/image7.png" Id="rId3" /><Relationship Type="http://schemas.openxmlformats.org/officeDocument/2006/relationships/notesSlide" Target="../notesSlides/notesSlide12.xml" Id="rId2" /><Relationship Type="http://schemas.openxmlformats.org/officeDocument/2006/relationships/slideLayout" Target="../slideLayouts/slideLayout2.xml" Id="rId1" /><Relationship Type="http://schemas.openxmlformats.org/officeDocument/2006/relationships/image" Target="/ppt/media/image31.png" Id="Rfb7aaa6c28f249c0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449652f3ba4517" /><Relationship Type="http://schemas.openxmlformats.org/officeDocument/2006/relationships/image" Target="/ppt/media/image7.png" Id="R47b98665a4b74004" /><Relationship Type="http://schemas.openxmlformats.org/officeDocument/2006/relationships/notesSlide" Target="/ppt/notesSlides/notesSlide14.xml" Id="R83937b9ade1b4b32" /><Relationship Type="http://schemas.openxmlformats.org/officeDocument/2006/relationships/image" Target="/ppt/media/image33.png" Id="Rc9d7222c112d42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54e835740e4e90" /><Relationship Type="http://schemas.openxmlformats.org/officeDocument/2006/relationships/image" Target="/ppt/media/image7.png" Id="R47887b4d5d3c4588" /><Relationship Type="http://schemas.openxmlformats.org/officeDocument/2006/relationships/notesSlide" Target="/ppt/notesSlides/notesSlide15.xml" Id="Rfa4fb5bd8a7b4e2d" /><Relationship Type="http://schemas.openxmlformats.org/officeDocument/2006/relationships/image" Target="/ppt/media/image32.png" Id="R361b669e0db040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07516b44c74c50" /><Relationship Type="http://schemas.openxmlformats.org/officeDocument/2006/relationships/image" Target="/ppt/media/image7.png" Id="R4b5d1890864d4381" /><Relationship Type="http://schemas.openxmlformats.org/officeDocument/2006/relationships/notesSlide" Target="/ppt/notesSlides/notesSlide16.xml" Id="R8a468b1ee1974c70" /><Relationship Type="http://schemas.openxmlformats.org/officeDocument/2006/relationships/image" Target="/ppt/media/image30.png" Id="Rb41cfeccb5f645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fab14b24ee41f0" /><Relationship Type="http://schemas.openxmlformats.org/officeDocument/2006/relationships/image" Target="/ppt/media/image7.png" Id="R648c72fd90da41fc" /><Relationship Type="http://schemas.openxmlformats.org/officeDocument/2006/relationships/notesSlide" Target="/ppt/notesSlides/notesSlide17.xml" Id="R1908c04887cf4db0" /><Relationship Type="http://schemas.openxmlformats.org/officeDocument/2006/relationships/image" Target="/ppt/media/image29.png" Id="Rcc5a53036a2245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e7a36203e242a9" /><Relationship Type="http://schemas.openxmlformats.org/officeDocument/2006/relationships/image" Target="/ppt/media/image7.png" Id="R51c11a7501d04820" /><Relationship Type="http://schemas.openxmlformats.org/officeDocument/2006/relationships/notesSlide" Target="/ppt/notesSlides/notesSlide18.xml" Id="R5d3d8054e057411a" /><Relationship Type="http://schemas.openxmlformats.org/officeDocument/2006/relationships/image" Target="/ppt/media/image28.png" Id="R68104c41d88544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41d47dcd7c4b95" /><Relationship Type="http://schemas.openxmlformats.org/officeDocument/2006/relationships/image" Target="/ppt/media/image7.png" Id="R9d783a37c5c84140" /><Relationship Type="http://schemas.openxmlformats.org/officeDocument/2006/relationships/notesSlide" Target="/ppt/notesSlides/notesSlide19.xml" Id="R97b2418c0e5a4a65" /><Relationship Type="http://schemas.openxmlformats.org/officeDocument/2006/relationships/image" Target="/ppt/media/image27.png" Id="R0a3596ffe95f479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4aeb2a5da642bb" /><Relationship Type="http://schemas.openxmlformats.org/officeDocument/2006/relationships/image" Target="/ppt/media/image7.png" Id="R6a058695fb844107" /><Relationship Type="http://schemas.openxmlformats.org/officeDocument/2006/relationships/notesSlide" Target="/ppt/notesSlides/notesSlide20.xml" Id="Rff0cff1826e849d5" /><Relationship Type="http://schemas.openxmlformats.org/officeDocument/2006/relationships/image" Target="/ppt/media/image26.png" Id="Re0f9293efaf4434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b3a36707084c7b" /><Relationship Type="http://schemas.openxmlformats.org/officeDocument/2006/relationships/image" Target="/ppt/media/image7.png" Id="R78493aad06ed46ff" /><Relationship Type="http://schemas.openxmlformats.org/officeDocument/2006/relationships/notesSlide" Target="/ppt/notesSlides/notesSlide21.xml" Id="R61edf43092b74945" /><Relationship Type="http://schemas.openxmlformats.org/officeDocument/2006/relationships/image" Target="/ppt/media/image25.png" Id="Rd854e33be99a4fa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2f4068bee34cb4" /><Relationship Type="http://schemas.openxmlformats.org/officeDocument/2006/relationships/image" Target="/ppt/media/image7.png" Id="R3b8ae1e4f9034200" /><Relationship Type="http://schemas.openxmlformats.org/officeDocument/2006/relationships/notesSlide" Target="/ppt/notesSlides/notesSlide22.xml" Id="R902e4ae2074241b3" /><Relationship Type="http://schemas.openxmlformats.org/officeDocument/2006/relationships/image" Target="/ppt/media/image24.png" Id="R0f7cb52cda144c6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fd1040b7aa4f68" /><Relationship Type="http://schemas.openxmlformats.org/officeDocument/2006/relationships/image" Target="/ppt/media/image7.png" Id="Rac35889f99cb40cb" /><Relationship Type="http://schemas.openxmlformats.org/officeDocument/2006/relationships/notesSlide" Target="/ppt/notesSlides/notesSlide23.xml" Id="R49f1e51465c54c20" /><Relationship Type="http://schemas.openxmlformats.org/officeDocument/2006/relationships/image" Target="/ppt/media/image23.png" Id="R07dc6f03c490492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9eef8accb64a54" /><Relationship Type="http://schemas.openxmlformats.org/officeDocument/2006/relationships/image" Target="/ppt/media/image7.png" Id="R9a64bf95a2824c5e" /><Relationship Type="http://schemas.openxmlformats.org/officeDocument/2006/relationships/notesSlide" Target="/ppt/notesSlides/notesSlide24.xml" Id="R3e71a51ccd914994" /><Relationship Type="http://schemas.openxmlformats.org/officeDocument/2006/relationships/image" Target="/ppt/media/image21.png" Id="R38581f07f627430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ff59eb3d5940f7" /><Relationship Type="http://schemas.openxmlformats.org/officeDocument/2006/relationships/image" Target="/ppt/media/image7.png" Id="R3a71e6b39ebc462d" /><Relationship Type="http://schemas.openxmlformats.org/officeDocument/2006/relationships/notesSlide" Target="/ppt/notesSlides/notesSlide25.xml" Id="R2c357a2ec8ab468e" /><Relationship Type="http://schemas.openxmlformats.org/officeDocument/2006/relationships/image" Target="/ppt/media/image20.png" Id="R3fd1f001ded247e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b88a1bb52e4797" /><Relationship Type="http://schemas.openxmlformats.org/officeDocument/2006/relationships/image" Target="/ppt/media/image7.png" Id="R267d4ce76df54d37" /><Relationship Type="http://schemas.openxmlformats.org/officeDocument/2006/relationships/notesSlide" Target="/ppt/notesSlides/notesSlide26.xml" Id="R4edf2fe9e9804257" /><Relationship Type="http://schemas.openxmlformats.org/officeDocument/2006/relationships/image" Target="/ppt/media/image19.png" Id="Re7f3970129b7453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d00c764d74443a" /><Relationship Type="http://schemas.openxmlformats.org/officeDocument/2006/relationships/image" Target="/ppt/media/image7.png" Id="Rdc0e3bf507614170" /><Relationship Type="http://schemas.openxmlformats.org/officeDocument/2006/relationships/notesSlide" Target="/ppt/notesSlides/notesSlide27.xml" Id="R1033f39c5f924a5b" /><Relationship Type="http://schemas.openxmlformats.org/officeDocument/2006/relationships/image" Target="/ppt/media/image18.png" Id="Rf7295cbc9dcc4c9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b853d923094eec" /><Relationship Type="http://schemas.openxmlformats.org/officeDocument/2006/relationships/image" Target="/ppt/media/image7.png" Id="R09c7dcbdbe9f42ad" /><Relationship Type="http://schemas.openxmlformats.org/officeDocument/2006/relationships/notesSlide" Target="/ppt/notesSlides/notesSlide28.xml" Id="R25a8352030094979" /><Relationship Type="http://schemas.openxmlformats.org/officeDocument/2006/relationships/image" Target="/ppt/media/image17.png" Id="R403d5bce34a34f0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5953bdb14c4594" /><Relationship Type="http://schemas.openxmlformats.org/officeDocument/2006/relationships/image" Target="/ppt/media/image7.png" Id="R346cb11df1fe4fad" /><Relationship Type="http://schemas.openxmlformats.org/officeDocument/2006/relationships/notesSlide" Target="/ppt/notesSlides/notesSlide29.xml" Id="R48ed79fed49d4405" /><Relationship Type="http://schemas.openxmlformats.org/officeDocument/2006/relationships/image" Target="/ppt/media/image15.png" Id="R5643c5d4f743485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67f9a019c24184" /><Relationship Type="http://schemas.openxmlformats.org/officeDocument/2006/relationships/image" Target="/ppt/media/image7.png" Id="Re861aa1bcdca41d5" /><Relationship Type="http://schemas.openxmlformats.org/officeDocument/2006/relationships/notesSlide" Target="/ppt/notesSlides/notesSlide30.xml" Id="R76baea834712453b" /><Relationship Type="http://schemas.openxmlformats.org/officeDocument/2006/relationships/image" Target="/ppt/media/image14.png" Id="R785e4cb696b9481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c84d60d17847bb" /><Relationship Type="http://schemas.openxmlformats.org/officeDocument/2006/relationships/image" Target="/ppt/media/image7.png" Id="R9d735520e7ad47be" /><Relationship Type="http://schemas.openxmlformats.org/officeDocument/2006/relationships/notesSlide" Target="/ppt/notesSlides/notesSlide31.xml" Id="Rc4086d154e864754" /><Relationship Type="http://schemas.openxmlformats.org/officeDocument/2006/relationships/image" Target="/ppt/media/image13.png" Id="R84887df0b3cc4b6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b592e9a2134a89" /><Relationship Type="http://schemas.openxmlformats.org/officeDocument/2006/relationships/image" Target="/ppt/media/image7.png" Id="R6903be39a1304982" /><Relationship Type="http://schemas.openxmlformats.org/officeDocument/2006/relationships/notesSlide" Target="/ppt/notesSlides/notesSlide32.xml" Id="Rb2eb1b9091d6488f" /><Relationship Type="http://schemas.openxmlformats.org/officeDocument/2006/relationships/image" Target="/ppt/media/image12.png" Id="R8f8d9ba333ce45ef" /></Relationships>
</file>

<file path=ppt/slides/slide1.xml><?xml version="1.0" encoding="utf-8"?>
<p:sld xmlns:a14="http://schemas.microsoft.com/office/drawing/2010/main" xmlns:a16="http://schemas.microsoft.com/office/drawing/2014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 descr="模板装饰图形（不承载论文内容）"/>
          <p:cNvPicPr/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6024000" y="-3032194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 descr="模板装饰图形（不承载论文内容）"/>
          <p:cNvPicPr/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6024001" y="-127232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2204967"/>
            <a:ext cx="12192000" cy="2861362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0" y="2994682"/>
            <a:ext cx="12192000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zh-CN" b="1" dirty="0">
                <a:solidFill>
                  <a:schemeClr val="bg1"/>
                </a:solidFill>
              </a:rPr>
              <a:t>WebCloak：刻画并缓解 LLM 驱动 Web Agent 作为智能爬虫的威胁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" y="3871662"/>
            <a:ext cx="12191998" cy="400085"/>
          </a:xfrm>
          <a:prstGeom prst="rect">
            <a:avLst/>
          </a:prstGeom>
          <a:noFill/>
        </p:spPr>
        <p:txBody>
          <a:bodyPr wrap="square" lIns="91416" tIns="45708" rIns="91416" bIns="45708" rtlCol="0">
            <a:norm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zh-CN" sz="1800" b="1" dirty="0"/>
              <a:t>WebCloak: Characterizing and Mitigating Threats from LLM-Driven Web Agents as Intelligent Scrapers</a:t>
            </a:r>
          </a:p>
        </p:txBody>
      </p:sp>
      <p:pic>
        <p:nvPicPr>
          <p:cNvPr id="19" name="图片 18" descr="模板装饰图形（不承载论文内容）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82973" y="652725"/>
            <a:ext cx="4226054" cy="886197"/>
          </a:xfrm>
          <a:prstGeom prst="rect">
            <a:avLst/>
          </a:prstGeom>
        </p:spPr>
      </p:pic>
      <p:sp>
        <p:nvSpPr>
          <p:cNvPr id="13" name="TextBox 6"/>
          <p:cNvSpPr txBox="1"/>
          <p:nvPr/>
        </p:nvSpPr>
        <p:spPr>
          <a:xfrm>
            <a:off x="3489371" y="5682051"/>
            <a:ext cx="1979981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报告人</a:t>
            </a:r>
            <a:r>
              <a:rPr lang="zh-CN" altLang="en-US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：程逸飞</a:t>
            </a:r>
            <a:endParaRPr lang="en-US" altLang="zh-CN" sz="1800" b="1" dirty="0">
              <a:solidFill>
                <a:srgbClr val="194A96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Freeform 7"/>
          <p:cNvSpPr>
            <a:spLocks noChangeAspect="1" noEditPoints="1"/>
          </p:cNvSpPr>
          <p:nvPr/>
        </p:nvSpPr>
        <p:spPr bwMode="auto">
          <a:xfrm>
            <a:off x="2923401" y="5648971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194A96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5A1F5B3-1A5A-C2CA-639E-9427BAD7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t>1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01D4BDDC-700F-4565-BAE3-3DB648527FD7}"/>
              </a:ext>
            </a:extLst>
          </p:cNvPr>
          <p:cNvSpPr txBox="1"/>
          <p:nvPr/>
        </p:nvSpPr>
        <p:spPr>
          <a:xfrm>
            <a:off x="7288948" y="5682051"/>
            <a:ext cx="2311803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指导老师</a:t>
            </a:r>
            <a:r>
              <a:rPr lang="zh-CN" altLang="en-US" sz="2000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：朱宇佳 </a:t>
            </a:r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154C98D5-A91E-45D0-A03B-F58C5231726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722649" y="5648970"/>
            <a:ext cx="464288" cy="466246"/>
          </a:xfrm>
          <a:custGeom>
            <a:avLst/>
            <a:gdLst>
              <a:gd name="T0" fmla="*/ 422 w 422"/>
              <a:gd name="T1" fmla="*/ 211 h 422"/>
              <a:gd name="T2" fmla="*/ 0 w 422"/>
              <a:gd name="T3" fmla="*/ 211 h 422"/>
              <a:gd name="T4" fmla="*/ 340 w 422"/>
              <a:gd name="T5" fmla="*/ 117 h 422"/>
              <a:gd name="T6" fmla="*/ 345 w 422"/>
              <a:gd name="T7" fmla="*/ 123 h 422"/>
              <a:gd name="T8" fmla="*/ 344 w 422"/>
              <a:gd name="T9" fmla="*/ 226 h 422"/>
              <a:gd name="T10" fmla="*/ 340 w 422"/>
              <a:gd name="T11" fmla="*/ 227 h 422"/>
              <a:gd name="T12" fmla="*/ 217 w 422"/>
              <a:gd name="T13" fmla="*/ 226 h 422"/>
              <a:gd name="T14" fmla="*/ 215 w 422"/>
              <a:gd name="T15" fmla="*/ 222 h 422"/>
              <a:gd name="T16" fmla="*/ 286 w 422"/>
              <a:gd name="T17" fmla="*/ 164 h 422"/>
              <a:gd name="T18" fmla="*/ 215 w 422"/>
              <a:gd name="T19" fmla="*/ 171 h 422"/>
              <a:gd name="T20" fmla="*/ 217 w 422"/>
              <a:gd name="T21" fmla="*/ 119 h 422"/>
              <a:gd name="T22" fmla="*/ 220 w 422"/>
              <a:gd name="T23" fmla="*/ 117 h 422"/>
              <a:gd name="T24" fmla="*/ 220 w 422"/>
              <a:gd name="T25" fmla="*/ 96 h 422"/>
              <a:gd name="T26" fmla="*/ 202 w 422"/>
              <a:gd name="T27" fmla="*/ 104 h 422"/>
              <a:gd name="T28" fmla="*/ 194 w 422"/>
              <a:gd name="T29" fmla="*/ 174 h 422"/>
              <a:gd name="T30" fmla="*/ 186 w 422"/>
              <a:gd name="T31" fmla="*/ 166 h 422"/>
              <a:gd name="T32" fmla="*/ 137 w 422"/>
              <a:gd name="T33" fmla="*/ 151 h 422"/>
              <a:gd name="T34" fmla="*/ 54 w 422"/>
              <a:gd name="T35" fmla="*/ 173 h 422"/>
              <a:gd name="T36" fmla="*/ 77 w 422"/>
              <a:gd name="T37" fmla="*/ 243 h 422"/>
              <a:gd name="T38" fmla="*/ 81 w 422"/>
              <a:gd name="T39" fmla="*/ 192 h 422"/>
              <a:gd name="T40" fmla="*/ 81 w 422"/>
              <a:gd name="T41" fmla="*/ 256 h 422"/>
              <a:gd name="T42" fmla="*/ 106 w 422"/>
              <a:gd name="T43" fmla="*/ 350 h 422"/>
              <a:gd name="T44" fmla="*/ 112 w 422"/>
              <a:gd name="T45" fmla="*/ 272 h 422"/>
              <a:gd name="T46" fmla="*/ 137 w 422"/>
              <a:gd name="T47" fmla="*/ 350 h 422"/>
              <a:gd name="T48" fmla="*/ 137 w 422"/>
              <a:gd name="T49" fmla="*/ 256 h 422"/>
              <a:gd name="T50" fmla="*/ 137 w 422"/>
              <a:gd name="T51" fmla="*/ 192 h 422"/>
              <a:gd name="T52" fmla="*/ 162 w 422"/>
              <a:gd name="T53" fmla="*/ 192 h 422"/>
              <a:gd name="T54" fmla="*/ 186 w 422"/>
              <a:gd name="T55" fmla="*/ 185 h 422"/>
              <a:gd name="T56" fmla="*/ 194 w 422"/>
              <a:gd name="T57" fmla="*/ 222 h 422"/>
              <a:gd name="T58" fmla="*/ 202 w 422"/>
              <a:gd name="T59" fmla="*/ 240 h 422"/>
              <a:gd name="T60" fmla="*/ 220 w 422"/>
              <a:gd name="T61" fmla="*/ 248 h 422"/>
              <a:gd name="T62" fmla="*/ 359 w 422"/>
              <a:gd name="T63" fmla="*/ 240 h 422"/>
              <a:gd name="T64" fmla="*/ 366 w 422"/>
              <a:gd name="T65" fmla="*/ 222 h 422"/>
              <a:gd name="T66" fmla="*/ 359 w 422"/>
              <a:gd name="T67" fmla="*/ 104 h 422"/>
              <a:gd name="T68" fmla="*/ 220 w 422"/>
              <a:gd name="T69" fmla="*/ 96 h 422"/>
              <a:gd name="T70" fmla="*/ 344 w 422"/>
              <a:gd name="T71" fmla="*/ 277 h 422"/>
              <a:gd name="T72" fmla="*/ 346 w 422"/>
              <a:gd name="T73" fmla="*/ 351 h 422"/>
              <a:gd name="T74" fmla="*/ 298 w 422"/>
              <a:gd name="T75" fmla="*/ 277 h 422"/>
              <a:gd name="T76" fmla="*/ 250 w 422"/>
              <a:gd name="T77" fmla="*/ 351 h 422"/>
              <a:gd name="T78" fmla="*/ 244 w 422"/>
              <a:gd name="T79" fmla="*/ 277 h 422"/>
              <a:gd name="T80" fmla="*/ 221 w 422"/>
              <a:gd name="T81" fmla="*/ 254 h 422"/>
              <a:gd name="T82" fmla="*/ 109 w 422"/>
              <a:gd name="T83" fmla="*/ 75 h 422"/>
              <a:gd name="T84" fmla="*/ 109 w 422"/>
              <a:gd name="T85" fmla="*/ 146 h 422"/>
              <a:gd name="T86" fmla="*/ 109 w 422"/>
              <a:gd name="T87" fmla="*/ 75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22" h="422">
                <a:moveTo>
                  <a:pt x="211" y="0"/>
                </a:moveTo>
                <a:cubicBezTo>
                  <a:pt x="327" y="0"/>
                  <a:pt x="422" y="94"/>
                  <a:pt x="422" y="211"/>
                </a:cubicBezTo>
                <a:cubicBezTo>
                  <a:pt x="422" y="327"/>
                  <a:pt x="327" y="422"/>
                  <a:pt x="211" y="422"/>
                </a:cubicBezTo>
                <a:cubicBezTo>
                  <a:pt x="94" y="422"/>
                  <a:pt x="0" y="327"/>
                  <a:pt x="0" y="211"/>
                </a:cubicBezTo>
                <a:cubicBezTo>
                  <a:pt x="0" y="94"/>
                  <a:pt x="94" y="0"/>
                  <a:pt x="211" y="0"/>
                </a:cubicBezTo>
                <a:close/>
                <a:moveTo>
                  <a:pt x="340" y="117"/>
                </a:moveTo>
                <a:cubicBezTo>
                  <a:pt x="341" y="117"/>
                  <a:pt x="343" y="118"/>
                  <a:pt x="344" y="119"/>
                </a:cubicBezTo>
                <a:cubicBezTo>
                  <a:pt x="345" y="120"/>
                  <a:pt x="345" y="121"/>
                  <a:pt x="345" y="123"/>
                </a:cubicBezTo>
                <a:lnTo>
                  <a:pt x="345" y="222"/>
                </a:lnTo>
                <a:cubicBezTo>
                  <a:pt x="345" y="223"/>
                  <a:pt x="345" y="225"/>
                  <a:pt x="344" y="226"/>
                </a:cubicBezTo>
                <a:lnTo>
                  <a:pt x="344" y="226"/>
                </a:lnTo>
                <a:cubicBezTo>
                  <a:pt x="343" y="227"/>
                  <a:pt x="341" y="227"/>
                  <a:pt x="340" y="227"/>
                </a:cubicBezTo>
                <a:lnTo>
                  <a:pt x="220" y="227"/>
                </a:lnTo>
                <a:cubicBezTo>
                  <a:pt x="219" y="227"/>
                  <a:pt x="218" y="227"/>
                  <a:pt x="217" y="226"/>
                </a:cubicBezTo>
                <a:lnTo>
                  <a:pt x="217" y="226"/>
                </a:lnTo>
                <a:cubicBezTo>
                  <a:pt x="216" y="225"/>
                  <a:pt x="215" y="223"/>
                  <a:pt x="215" y="222"/>
                </a:cubicBezTo>
                <a:lnTo>
                  <a:pt x="215" y="179"/>
                </a:lnTo>
                <a:lnTo>
                  <a:pt x="286" y="164"/>
                </a:lnTo>
                <a:lnTo>
                  <a:pt x="286" y="162"/>
                </a:lnTo>
                <a:lnTo>
                  <a:pt x="215" y="171"/>
                </a:lnTo>
                <a:lnTo>
                  <a:pt x="215" y="123"/>
                </a:lnTo>
                <a:cubicBezTo>
                  <a:pt x="215" y="121"/>
                  <a:pt x="216" y="120"/>
                  <a:pt x="217" y="119"/>
                </a:cubicBezTo>
                <a:lnTo>
                  <a:pt x="217" y="119"/>
                </a:lnTo>
                <a:cubicBezTo>
                  <a:pt x="218" y="118"/>
                  <a:pt x="219" y="117"/>
                  <a:pt x="220" y="117"/>
                </a:cubicBezTo>
                <a:lnTo>
                  <a:pt x="340" y="117"/>
                </a:lnTo>
                <a:close/>
                <a:moveTo>
                  <a:pt x="220" y="96"/>
                </a:moveTo>
                <a:cubicBezTo>
                  <a:pt x="213" y="96"/>
                  <a:pt x="206" y="99"/>
                  <a:pt x="202" y="104"/>
                </a:cubicBezTo>
                <a:lnTo>
                  <a:pt x="202" y="104"/>
                </a:lnTo>
                <a:cubicBezTo>
                  <a:pt x="197" y="109"/>
                  <a:pt x="194" y="115"/>
                  <a:pt x="194" y="123"/>
                </a:cubicBezTo>
                <a:lnTo>
                  <a:pt x="194" y="174"/>
                </a:lnTo>
                <a:lnTo>
                  <a:pt x="186" y="175"/>
                </a:lnTo>
                <a:lnTo>
                  <a:pt x="186" y="166"/>
                </a:lnTo>
                <a:lnTo>
                  <a:pt x="162" y="166"/>
                </a:lnTo>
                <a:lnTo>
                  <a:pt x="137" y="151"/>
                </a:lnTo>
                <a:lnTo>
                  <a:pt x="77" y="151"/>
                </a:lnTo>
                <a:cubicBezTo>
                  <a:pt x="64" y="151"/>
                  <a:pt x="54" y="161"/>
                  <a:pt x="54" y="173"/>
                </a:cubicBezTo>
                <a:lnTo>
                  <a:pt x="54" y="243"/>
                </a:lnTo>
                <a:lnTo>
                  <a:pt x="77" y="243"/>
                </a:lnTo>
                <a:lnTo>
                  <a:pt x="77" y="192"/>
                </a:lnTo>
                <a:lnTo>
                  <a:pt x="81" y="192"/>
                </a:lnTo>
                <a:lnTo>
                  <a:pt x="81" y="243"/>
                </a:lnTo>
                <a:lnTo>
                  <a:pt x="81" y="256"/>
                </a:lnTo>
                <a:lnTo>
                  <a:pt x="81" y="350"/>
                </a:lnTo>
                <a:lnTo>
                  <a:pt x="106" y="350"/>
                </a:lnTo>
                <a:lnTo>
                  <a:pt x="106" y="272"/>
                </a:lnTo>
                <a:lnTo>
                  <a:pt x="112" y="272"/>
                </a:lnTo>
                <a:lnTo>
                  <a:pt x="112" y="350"/>
                </a:lnTo>
                <a:lnTo>
                  <a:pt x="137" y="350"/>
                </a:lnTo>
                <a:lnTo>
                  <a:pt x="137" y="336"/>
                </a:lnTo>
                <a:lnTo>
                  <a:pt x="137" y="256"/>
                </a:lnTo>
                <a:lnTo>
                  <a:pt x="137" y="243"/>
                </a:lnTo>
                <a:lnTo>
                  <a:pt x="137" y="192"/>
                </a:lnTo>
                <a:lnTo>
                  <a:pt x="137" y="177"/>
                </a:lnTo>
                <a:lnTo>
                  <a:pt x="162" y="192"/>
                </a:lnTo>
                <a:lnTo>
                  <a:pt x="186" y="192"/>
                </a:lnTo>
                <a:lnTo>
                  <a:pt x="186" y="185"/>
                </a:lnTo>
                <a:lnTo>
                  <a:pt x="194" y="184"/>
                </a:lnTo>
                <a:lnTo>
                  <a:pt x="194" y="222"/>
                </a:lnTo>
                <a:cubicBezTo>
                  <a:pt x="194" y="229"/>
                  <a:pt x="197" y="236"/>
                  <a:pt x="202" y="240"/>
                </a:cubicBezTo>
                <a:lnTo>
                  <a:pt x="202" y="240"/>
                </a:lnTo>
                <a:lnTo>
                  <a:pt x="202" y="241"/>
                </a:lnTo>
                <a:cubicBezTo>
                  <a:pt x="207" y="245"/>
                  <a:pt x="213" y="248"/>
                  <a:pt x="220" y="248"/>
                </a:cubicBezTo>
                <a:lnTo>
                  <a:pt x="340" y="248"/>
                </a:lnTo>
                <a:cubicBezTo>
                  <a:pt x="347" y="248"/>
                  <a:pt x="354" y="245"/>
                  <a:pt x="359" y="240"/>
                </a:cubicBezTo>
                <a:lnTo>
                  <a:pt x="359" y="241"/>
                </a:lnTo>
                <a:cubicBezTo>
                  <a:pt x="363" y="236"/>
                  <a:pt x="366" y="229"/>
                  <a:pt x="366" y="222"/>
                </a:cubicBezTo>
                <a:lnTo>
                  <a:pt x="366" y="123"/>
                </a:lnTo>
                <a:cubicBezTo>
                  <a:pt x="366" y="115"/>
                  <a:pt x="363" y="109"/>
                  <a:pt x="359" y="104"/>
                </a:cubicBezTo>
                <a:cubicBezTo>
                  <a:pt x="354" y="99"/>
                  <a:pt x="347" y="96"/>
                  <a:pt x="340" y="96"/>
                </a:cubicBezTo>
                <a:lnTo>
                  <a:pt x="220" y="96"/>
                </a:lnTo>
                <a:close/>
                <a:moveTo>
                  <a:pt x="344" y="254"/>
                </a:moveTo>
                <a:lnTo>
                  <a:pt x="344" y="277"/>
                </a:lnTo>
                <a:lnTo>
                  <a:pt x="325" y="277"/>
                </a:lnTo>
                <a:lnTo>
                  <a:pt x="346" y="351"/>
                </a:lnTo>
                <a:lnTo>
                  <a:pt x="319" y="351"/>
                </a:lnTo>
                <a:lnTo>
                  <a:pt x="298" y="277"/>
                </a:lnTo>
                <a:lnTo>
                  <a:pt x="271" y="277"/>
                </a:lnTo>
                <a:lnTo>
                  <a:pt x="250" y="351"/>
                </a:lnTo>
                <a:lnTo>
                  <a:pt x="223" y="351"/>
                </a:lnTo>
                <a:lnTo>
                  <a:pt x="244" y="277"/>
                </a:lnTo>
                <a:lnTo>
                  <a:pt x="221" y="277"/>
                </a:lnTo>
                <a:lnTo>
                  <a:pt x="221" y="254"/>
                </a:lnTo>
                <a:lnTo>
                  <a:pt x="344" y="254"/>
                </a:lnTo>
                <a:close/>
                <a:moveTo>
                  <a:pt x="109" y="75"/>
                </a:moveTo>
                <a:cubicBezTo>
                  <a:pt x="129" y="75"/>
                  <a:pt x="145" y="91"/>
                  <a:pt x="145" y="111"/>
                </a:cubicBezTo>
                <a:cubicBezTo>
                  <a:pt x="145" y="130"/>
                  <a:pt x="129" y="146"/>
                  <a:pt x="109" y="146"/>
                </a:cubicBezTo>
                <a:cubicBezTo>
                  <a:pt x="90" y="146"/>
                  <a:pt x="74" y="130"/>
                  <a:pt x="74" y="111"/>
                </a:cubicBezTo>
                <a:cubicBezTo>
                  <a:pt x="74" y="91"/>
                  <a:pt x="90" y="75"/>
                  <a:pt x="109" y="75"/>
                </a:cubicBezTo>
                <a:close/>
              </a:path>
            </a:pathLst>
          </a:custGeom>
          <a:solidFill>
            <a:srgbClr val="194A96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 sz="280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16="http://schemas.microsoft.com/office/drawing/2014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2231C-7259-72B8-1D25-320B13167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D651C94-1B91-7235-E80C-7827BB84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B509A64-B1AF-1F29-0133-99A531702459}"/>
              </a:ext>
            </a:extLst>
          </p:cNvPr>
          <p:cNvSpPr txBox="1"/>
          <p:nvPr/>
        </p:nvSpPr>
        <p:spPr>
          <a:xfrm>
            <a:off x="606638" y="678525"/>
            <a:ext cx="11196038" cy="562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论文：</a:t>
            </a:r>
            <a:r>
              <a:rPr lang="zh-CN" altLang="zh-CN" sz="1600" b="1" dirty="0"/>
              <a:t>WebCloak: Characterizing and Mitigating Threats from LLM-Driven Web Agents as Intelligent Scrapers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AAFF98-55A4-ECA2-22E4-CAD8B91156E6}"/>
              </a:ext>
            </a:extLst>
          </p:cNvPr>
          <p:cNvSpPr txBox="1"/>
          <p:nvPr/>
        </p:nvSpPr>
        <p:spPr>
          <a:xfrm>
            <a:off x="606638" y="1817254"/>
            <a:ext cx="11196038" cy="562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作者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A1BB68-8A48-FD23-C5AF-B7DB627B9201}"/>
              </a:ext>
            </a:extLst>
          </p:cNvPr>
          <p:cNvSpPr txBox="1"/>
          <p:nvPr/>
        </p:nvSpPr>
        <p:spPr>
          <a:xfrm>
            <a:off x="606638" y="2740752"/>
            <a:ext cx="11196038" cy="562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来源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IEEE S&amp;P 2026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DCA5B1-AAD2-2F77-32BA-7CBFFD36DFA7}"/>
              </a:ext>
            </a:extLst>
          </p:cNvPr>
          <p:cNvSpPr txBox="1"/>
          <p:nvPr/>
        </p:nvSpPr>
        <p:spPr>
          <a:xfrm>
            <a:off x="606638" y="3383083"/>
            <a:ext cx="10747162" cy="321561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本文贡献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Char char="□"/>
            </a:pPr>
            <a:r>
              <a:rPr lang="en-US" altLang="zh-CN" sz="1800" b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首次系统刻画 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agent-as-attacker</a:t>
            </a:r>
            <a:r>
              <a:rPr lang="en-US" altLang="zh-CN" sz="1800" b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风险，在 L2S、LNC、LWA 三类范式上测量 32 个变体，证明 LLM 显著降低了有效网页抓取门槛。</a:t>
            </a:r>
          </a:p>
          <a:p>
            <a:pPr marL="742950" lvl="1" indent="-285750">
              <a:lnSpc>
                <a:spcPct val="115000"/>
              </a:lnSpc>
              <a:buChar char="□"/>
            </a:pPr>
            <a:r>
              <a:rPr lang="en-US" sz="1800" b="0">
                <a:solidFill>
                  <a:srgbClr val="000000"/>
                </a:solidFill>
              </a:rPr>
              <a:t>构建面向对抗性图像提取的 </a:t>
            </a:r>
            <a:r>
              <a:rPr lang="en-US" sz="1800" b="1">
                <a:solidFill>
                  <a:srgbClr val="000000"/>
                </a:solidFill>
              </a:rPr>
              <a:t>LLMCrawlBench</a:t>
            </a:r>
            <a:r>
              <a:rPr lang="en-US" sz="1800" b="0">
                <a:solidFill>
                  <a:srgbClr val="000000"/>
                </a:solidFill>
              </a:rPr>
              <a:t>，覆盖 50 个网站、237 个离线网页与 10,895 个图像真值，支持可复现比较。</a:t>
            </a:r>
          </a:p>
          <a:p>
            <a:pPr marL="742950" lvl="1" indent="-285750">
              <a:lnSpc>
                <a:spcPct val="115000"/>
              </a:lnSpc>
              <a:buChar char="□"/>
            </a:pPr>
            <a:r>
              <a:rPr lang="en-US" sz="1800" b="0">
                <a:solidFill>
                  <a:srgbClr val="000000"/>
                </a:solidFill>
              </a:rPr>
              <a:t>发现共同的 </a:t>
            </a:r>
            <a:r>
              <a:rPr lang="en-US" sz="1800" b="1">
                <a:solidFill>
                  <a:srgbClr val="000000"/>
                </a:solidFill>
              </a:rPr>
              <a:t>parse-then-interpret</a:t>
            </a:r>
            <a:r>
              <a:rPr lang="en-US" sz="1800" b="0">
                <a:solidFill>
                  <a:srgbClr val="000000"/>
                </a:solidFill>
              </a:rPr>
              <a:t> 依赖并提出双层 WebCloak；从有效性、适应性、可用性和开销验证其边界内的防护能力。</a:t>
            </a:r>
          </a:p>
        </p:txBody>
      </p:sp>
      <p:pic>
        <p:nvPicPr>
          <p:cNvPr id="100209" name="PPW_AUTHOR_VISUAL" descr="论文作者与机构信息"/>
          <p:cNvPicPr>
            <a:picLocks noChangeAspect="1"/>
          </p:cNvPicPr>
          <p:nvPr/>
        </p:nvPicPr>
        <p:blipFill>
          <a:blip r:embed="Ra66bb4c26ce94e2a"/>
          <a:stretch>
            <a:fillRect/>
          </a:stretch>
        </p:blipFill>
        <p:spPr>
          <a:xfrm>
            <a:off x="2396559" y="1573157"/>
            <a:ext cx="8780816" cy="108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618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16="http://schemas.microsoft.com/office/drawing/2014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0680A-3101-A2DC-B005-468B4FC0F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34409CA-D5BF-8D76-F459-F4E30BD1F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464E0A-AE61-CFCD-97D9-A8D4783A06E4}"/>
              </a:ext>
            </a:extLst>
          </p:cNvPr>
          <p:cNvSpPr txBox="1"/>
          <p:nvPr/>
        </p:nvSpPr>
        <p:spPr>
          <a:xfrm>
            <a:off x="606638" y="678525"/>
            <a:ext cx="11196038" cy="562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一页纸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0210" name="PPW_ONE_PAGE_IMAGE" descr="论文一页纸总结"/>
          <p:cNvPicPr>
            <a:picLocks noChangeAspect="1"/>
          </p:cNvPicPr>
          <p:nvPr/>
        </p:nvPicPr>
        <p:blipFill>
          <a:blip r:embed="Ra85478759ac748ac"/>
          <a:stretch>
            <a:fillRect/>
          </a:stretch>
        </p:blipFill>
        <p:spPr>
          <a:xfrm>
            <a:off x="2388358" y="623192"/>
            <a:ext cx="7403911" cy="571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119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14="http://schemas.microsoft.com/office/drawing/2010/main" xmlns:a16="http://schemas.microsoft.com/office/drawing/2014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-1791046" y="1892300"/>
            <a:ext cx="5651845" cy="3073400"/>
          </a:xfrm>
          <a:prstGeom prst="roundRect">
            <a:avLst>
              <a:gd name="adj" fmla="val 50000"/>
            </a:avLst>
          </a:prstGeom>
          <a:solidFill>
            <a:srgbClr val="194A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-1556426" y="1998319"/>
            <a:ext cx="5261917" cy="2861362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模板装饰图形（不承载论文内容）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0835" y="6273633"/>
            <a:ext cx="1710330" cy="358653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5966208" y="170974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01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966208" y="267767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966208" y="364559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03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966208" y="461352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04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7071108" y="170974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基本概念与问题背景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7071108" y="2729108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7071108" y="3681061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64" name="TextBox 78"/>
          <p:cNvSpPr txBox="1"/>
          <p:nvPr/>
        </p:nvSpPr>
        <p:spPr>
          <a:xfrm>
            <a:off x="548983" y="3733289"/>
            <a:ext cx="2097370" cy="5024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5" name="TextBox 79"/>
          <p:cNvSpPr txBox="1"/>
          <p:nvPr/>
        </p:nvSpPr>
        <p:spPr>
          <a:xfrm>
            <a:off x="641317" y="2677173"/>
            <a:ext cx="1912703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8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A94A1A0-1D9D-0B80-A3C7-4351AF9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18" name="圆角矩形 61">
            <a:extLst>
              <a:ext uri="{FF2B5EF4-FFF2-40B4-BE49-F238E27FC236}">
                <a16:creationId xmlns:a16="http://schemas.microsoft.com/office/drawing/2014/main" id="{E90A9E7D-EEF1-4A81-A7F9-84BD13A0E7C5}"/>
              </a:ext>
            </a:extLst>
          </p:cNvPr>
          <p:cNvSpPr/>
          <p:nvPr/>
        </p:nvSpPr>
        <p:spPr>
          <a:xfrm>
            <a:off x="7106473" y="4602446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总结反思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14="http://schemas.microsoft.com/office/drawing/2010/main" xmlns:a16="http://schemas.microsoft.com/office/drawing/2014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194A96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575664" y="3502819"/>
            <a:ext cx="1040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Part.1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基本概念与问题背景</a:t>
            </a:r>
          </a:p>
        </p:txBody>
      </p:sp>
      <p:pic>
        <p:nvPicPr>
          <p:cNvPr id="10" name="图片 9" descr="模板装饰图形（不承载论文内容）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48100" y="1047774"/>
            <a:ext cx="4495800" cy="94865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63FB0C-A8B6-1C3E-D131-63B9D542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18F14-92E8-0705-AB5A-678146A26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C2E714AB-31D3-6295-4BDB-BCD35AC2CAC9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Web Agent 从受害者转为可规模化的攻击工具</a:t>
            </a:r>
          </a:p>
        </p:txBody>
      </p:sp>
      <p:sp>
        <p:nvSpPr>
          <p:cNvPr id="19" name="矩形 4">
            <a:extLst>
              <a:ext uri="{FF2B5EF4-FFF2-40B4-BE49-F238E27FC236}">
                <a16:creationId xmlns:a16="http://schemas.microsoft.com/office/drawing/2014/main" id="{089A9397-C32C-F063-4D7A-04C7F347F201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8525DE-392F-D024-AAAB-323BFCD6AA12}"/>
              </a:ext>
            </a:extLst>
          </p:cNvPr>
          <p:cNvSpPr/>
          <p:nvPr/>
        </p:nvSpPr>
        <p:spPr>
          <a:xfrm>
            <a:off x="3231850" y="0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B6D9E27E-BE27-4E78-5242-9E9718E74D85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1972327E-4B32-ED59-6815-280B46C0D2C0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EEC9DD3A-51C3-52A0-F8D5-4B40EA8DEC93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92D79763-2B2D-931C-558B-C312955F8021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pic>
        <p:nvPicPr>
          <p:cNvPr id="26" name="图片 25" descr="模板装饰图形（不承载论文内容）">
            <a:extLst>
              <a:ext uri="{FF2B5EF4-FFF2-40B4-BE49-F238E27FC236}">
                <a16:creationId xmlns:a16="http://schemas.microsoft.com/office/drawing/2014/main" id="{E2B2AFBD-1D1F-AE8A-B1FC-4B9BE0911F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79DF2D-7727-F948-B674-9667E869FA14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研究转向：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既有安全工作多研究恶意网页如何操纵 Web Agent；本文反向考察恶意用户如何把正常 Agent 武器化，对良性网站批量抓取高价值资产。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攻击者边界：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具备前端知识、可修改提示并观察 DOM，但追求低成本和规模化，不逐页人工修复脚本，也不重写闭源 Agent 的核心解析逻辑。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防守目标：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网站所有者需要页内、轻量且对用户透明的额外防线，使自动抓取失去经济性，同时承认它并非针对无限资源专家的绝对屏障。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AA928ED1-6272-9964-6FBC-E4110E5C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t>6</a:t>
            </a:r>
          </a:p>
        </p:txBody>
      </p:sp>
      <p:pic>
        <p:nvPicPr>
          <p:cNvPr id="100211" name="PPW_VISUAL_S06" descr="密集网页经 Agent 解析为简化内容，再由攻击提示引导 Agent 解释并提取目标"/>
          <p:cNvPicPr>
            <a:picLocks noChangeAspect="1"/>
          </p:cNvPicPr>
          <p:nvPr/>
        </p:nvPicPr>
        <p:blipFill>
          <a:blip r:embed="R52d11985a0ce404c"/>
          <a:stretch>
            <a:fillRect/>
          </a:stretch>
        </p:blipFill>
        <p:spPr>
          <a:xfrm>
            <a:off x="2817125" y="4180375"/>
            <a:ext cx="6557749" cy="220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8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14="http://schemas.microsoft.com/office/drawing/2010/main" xmlns:a16="http://schemas.microsoft.com/office/drawing/2014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194A96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pic>
        <p:nvPicPr>
          <p:cNvPr id="10" name="图片 9" descr="模板装饰图形（不承载论文内容）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48100" y="1047774"/>
            <a:ext cx="4495800" cy="94865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63FB0C-A8B6-1C3E-D131-63B9D542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11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A5382CF-3CBA-4778-8B77-3387123A519C}"/>
              </a:ext>
            </a:extLst>
          </p:cNvPr>
          <p:cNvSpPr txBox="1"/>
          <p:nvPr/>
        </p:nvSpPr>
        <p:spPr>
          <a:xfrm>
            <a:off x="5575664" y="3502819"/>
            <a:ext cx="1040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Part.2</a:t>
            </a:r>
          </a:p>
        </p:txBody>
      </p:sp>
    </p:spTree>
    <p:extLst>
      <p:ext uri="{BB962C8B-B14F-4D97-AF65-F5344CB8AC3E}">
        <p14:creationId xmlns:p14="http://schemas.microsoft.com/office/powerpoint/2010/main" val="3542733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4">
            <a:extLst>
              <a:ext uri="{FF2B5EF4-FFF2-40B4-BE49-F238E27FC236}">
                <a16:creationId xmlns:a16="http://schemas.microsoft.com/office/drawing/2014/main" id="{775CC573-189A-4E49-924C-2DC777AD8E17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24F86829-E13F-4B75-BE00-4B10A1F35ADC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B9F24EC9-000A-4403-9A8D-5437DFB45B31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pic>
        <p:nvPicPr>
          <p:cNvPr id="26" name="图片 25" descr="模板装饰图形（不承载论文内容）">
            <a:extLst>
              <a:ext uri="{FF2B5EF4-FFF2-40B4-BE49-F238E27FC236}">
                <a16:creationId xmlns:a16="http://schemas.microsoft.com/office/drawing/2014/main" id="{C273FC7F-B9F5-46F2-AD02-F421E20480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88" name="矩形 87">
            <a:extLst>
              <a:ext uri="{FF2B5EF4-FFF2-40B4-BE49-F238E27FC236}">
                <a16:creationId xmlns:a16="http://schemas.microsoft.com/office/drawing/2014/main" id="{03292A43-D7B3-6868-E9D0-3D0DD481BD04}"/>
              </a:ext>
            </a:extLst>
          </p:cNvPr>
          <p:cNvSpPr/>
          <p:nvPr/>
        </p:nvSpPr>
        <p:spPr>
          <a:xfrm>
            <a:off x="5373338" y="-4281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7">
            <a:extLst>
              <a:ext uri="{FF2B5EF4-FFF2-40B4-BE49-F238E27FC236}">
                <a16:creationId xmlns:a16="http://schemas.microsoft.com/office/drawing/2014/main" id="{ADD74DCB-40C1-A872-7279-3FEB9293BC3C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90" name="TextBox 6">
            <a:extLst>
              <a:ext uri="{FF2B5EF4-FFF2-40B4-BE49-F238E27FC236}">
                <a16:creationId xmlns:a16="http://schemas.microsoft.com/office/drawing/2014/main" id="{F2C8075F-4F8E-B003-6D00-33F0ADD4A752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93" name="灯片编号占位符 3">
            <a:extLst>
              <a:ext uri="{FF2B5EF4-FFF2-40B4-BE49-F238E27FC236}">
                <a16:creationId xmlns:a16="http://schemas.microsoft.com/office/drawing/2014/main" id="{CB4686A0-DF7A-9EE9-7917-0B6CD7CE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6710B2-22DB-714E-BBB1-003152E8ECA5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WebCloak 对解析与解释实施双层干预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10343B-08AE-8A7F-3483-A99CE6AF25E6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Part 1 结构混淆：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每次会话把标准标签、属性和资源表达转换为随机非标准形式，破坏 Agent 解析器对可预测 DOM 结构的依赖。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Part 2 语义迷宫：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在目标元素周围加入经优化的隐藏文本，诱导模型忽略真实资产、触发安全对齐或转向诱饵，干扰最终解释。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四项原则：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用户透明、显著降低召回、抵抗已知机制后的适应、轻量且易集成；定位为现有反爬措施的页内正交补充。</a:t>
            </a:r>
          </a:p>
        </p:txBody>
      </p:sp>
      <p:pic>
        <p:nvPicPr>
          <p:cNvPr id="100216" name="PPW_VISUAL_S12" descr="原始网页同时经过动态结构混淆和优化语义迷宫后形成完整的 WebCloak 网页"/>
          <p:cNvPicPr>
            <a:picLocks noChangeAspect="1"/>
          </p:cNvPicPr>
          <p:nvPr/>
        </p:nvPicPr>
        <p:blipFill>
          <a:blip r:embed="R9d938bc0b4384aa0"/>
          <a:stretch>
            <a:fillRect/>
          </a:stretch>
        </p:blipFill>
        <p:spPr>
          <a:xfrm>
            <a:off x="2817125" y="4108587"/>
            <a:ext cx="6557749" cy="234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29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14="http://schemas.microsoft.com/office/drawing/2010/main" xmlns:a16="http://schemas.microsoft.com/office/drawing/2014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194A96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pic>
        <p:nvPicPr>
          <p:cNvPr id="10" name="图片 9" descr="模板装饰图形（不承载论文内容）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48100" y="1047774"/>
            <a:ext cx="4495800" cy="94865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63FB0C-A8B6-1C3E-D131-63B9D542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18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A24D29-1D3B-44A8-A668-3BDDDE9CB1B9}"/>
              </a:ext>
            </a:extLst>
          </p:cNvPr>
          <p:cNvSpPr txBox="1"/>
          <p:nvPr/>
        </p:nvSpPr>
        <p:spPr>
          <a:xfrm>
            <a:off x="5575664" y="3502819"/>
            <a:ext cx="1040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Part.3</a:t>
            </a:r>
          </a:p>
        </p:txBody>
      </p:sp>
    </p:spTree>
    <p:extLst>
      <p:ext uri="{BB962C8B-B14F-4D97-AF65-F5344CB8AC3E}">
        <p14:creationId xmlns:p14="http://schemas.microsoft.com/office/powerpoint/2010/main" val="2209516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6FD2-825D-DF8F-3260-9149CB47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灯片编号占位符 56">
            <a:extLst>
              <a:ext uri="{FF2B5EF4-FFF2-40B4-BE49-F238E27FC236}">
                <a16:creationId xmlns:a16="http://schemas.microsoft.com/office/drawing/2014/main" id="{84C7AA80-A734-F77C-762A-1264A8F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19</a:t>
            </a:r>
          </a:p>
        </p:txBody>
      </p:sp>
      <p:sp>
        <p:nvSpPr>
          <p:cNvPr id="14" name="矩形 4">
            <a:extLst>
              <a:ext uri="{FF2B5EF4-FFF2-40B4-BE49-F238E27FC236}">
                <a16:creationId xmlns:a16="http://schemas.microsoft.com/office/drawing/2014/main" id="{D6FE8AC4-FBB2-7B4B-AE08-3760F2DC885D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图片 15" descr="模板装饰图形（不承载论文内容）">
            <a:extLst>
              <a:ext uri="{FF2B5EF4-FFF2-40B4-BE49-F238E27FC236}">
                <a16:creationId xmlns:a16="http://schemas.microsoft.com/office/drawing/2014/main" id="{02434977-B8FC-3C81-9C90-17275A1170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867B96C-0ACA-E041-6A67-47BD83D8C500}"/>
              </a:ext>
            </a:extLst>
          </p:cNvPr>
          <p:cNvSpPr/>
          <p:nvPr/>
        </p:nvSpPr>
        <p:spPr>
          <a:xfrm>
            <a:off x="7639103" y="762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C69FB2B6-47F5-BAA5-DC9B-26714D9A12C5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C729982E-CE57-317B-FB68-34F9ACADDCF7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17E52703-6C44-9695-48CA-4A3CAF24DF40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7B5D4C98-24A2-336D-9072-A0CB8E9AD16D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235838-5580-BA37-9B9C-151BE307A6ED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评估同时覆盖攻击效果、用户体验与部署成本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0F7812-435E-7C84-7467-BCB8DE641BDA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目标与数据：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完整 LLMCrawlBench 上测试 Gemini-2.5-pro、Crawl4AI、Browser-Use；另以 27 个高基线召回页面比较防御。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四类基线：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完整代码混淆、动态 JS 加载、静态目标标签替换、朴素语义干扰，分别覆盖传统结构与未优化提示策略。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四组问题：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RQ1 有效性，RQ2 适应性鲁棒，RQ3 用户体验，RQ4 生成与执行开销；召回越低表示防御越强。</a:t>
            </a:r>
          </a:p>
        </p:txBody>
      </p:sp>
      <p:pic>
        <p:nvPicPr>
          <p:cNvPr id="100222" name="PPW_VISUAL_S19" descr="Gemini、Crawl4AI 与 Browser-Use 的召回、精度、token、CPU 和内存开销表"/>
          <p:cNvPicPr>
            <a:picLocks noChangeAspect="1"/>
          </p:cNvPicPr>
          <p:nvPr/>
        </p:nvPicPr>
        <p:blipFill>
          <a:blip r:embed="R0c13c18ad228476e"/>
          <a:stretch>
            <a:fillRect/>
          </a:stretch>
        </p:blipFill>
        <p:spPr>
          <a:xfrm>
            <a:off x="2817125" y="3973332"/>
            <a:ext cx="6557749" cy="261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4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14="http://schemas.microsoft.com/office/drawing/2010/main" xmlns:a16="http://schemas.microsoft.com/office/drawing/2014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194A96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pic>
        <p:nvPicPr>
          <p:cNvPr id="10" name="图片 9" descr="模板装饰图形（不承载论文内容）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48100" y="1047774"/>
            <a:ext cx="4495800" cy="94865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63FB0C-A8B6-1C3E-D131-63B9D542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28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A24D29-1D3B-44A8-A668-3BDDDE9CB1B9}"/>
              </a:ext>
            </a:extLst>
          </p:cNvPr>
          <p:cNvSpPr txBox="1"/>
          <p:nvPr/>
        </p:nvSpPr>
        <p:spPr>
          <a:xfrm>
            <a:off x="5575664" y="3502819"/>
            <a:ext cx="1040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Part.4</a:t>
            </a:r>
          </a:p>
        </p:txBody>
      </p:sp>
    </p:spTree>
    <p:extLst>
      <p:ext uri="{BB962C8B-B14F-4D97-AF65-F5344CB8AC3E}">
        <p14:creationId xmlns:p14="http://schemas.microsoft.com/office/powerpoint/2010/main" val="3611017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17021-9ED6-B6F7-2AAE-FA495B083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灯片编号占位符 56">
            <a:extLst>
              <a:ext uri="{FF2B5EF4-FFF2-40B4-BE49-F238E27FC236}">
                <a16:creationId xmlns:a16="http://schemas.microsoft.com/office/drawing/2014/main" id="{D596DE77-1B0D-ECFD-5D66-46551E9F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29</a:t>
            </a:r>
          </a:p>
        </p:txBody>
      </p:sp>
      <p:sp>
        <p:nvSpPr>
          <p:cNvPr id="14" name="矩形 4">
            <a:extLst>
              <a:ext uri="{FF2B5EF4-FFF2-40B4-BE49-F238E27FC236}">
                <a16:creationId xmlns:a16="http://schemas.microsoft.com/office/drawing/2014/main" id="{A6A8A69A-CF6B-C924-666B-FE90A73B7E17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图片 15" descr="模板装饰图形（不承载论文内容）">
            <a:extLst>
              <a:ext uri="{FF2B5EF4-FFF2-40B4-BE49-F238E27FC236}">
                <a16:creationId xmlns:a16="http://schemas.microsoft.com/office/drawing/2014/main" id="{366DFC22-EDB1-2DE8-5119-51EF7EBBE7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CB055CCD-4B42-F8C9-549F-D27E6DA74738}"/>
              </a:ext>
            </a:extLst>
          </p:cNvPr>
          <p:cNvSpPr/>
          <p:nvPr/>
        </p:nvSpPr>
        <p:spPr>
          <a:xfrm>
            <a:off x="9762189" y="762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7961E5C4-8019-9ECD-DA31-8F7B262645A2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05C6A6D7-B994-DBCA-8D2E-382B19562DE5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BF08DFA1-91AE-C3B8-D638-B6B91B95BCC3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836E016C-F69F-10B2-1CAB-CF7CD8E38C5C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5CB01D-CA58-B835-5EE4-F3E212C1CB01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最有说服力的是从测量机制直接导出防御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F83DBD-C448-239A-6E0D-66039AB11EB6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完整证据链：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先用 32 个变体证明威胁，再用代表工具发现共同解析依赖，最后以结构层和语义层分别对准两个阶段并做对应消融。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可复用原则：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防御前先识别攻击系统必须保留的中间表示和可预测假设；若能让人类语义不变而机器表示失配，就能制造成本不对称。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评估意识：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论文同时检查适应性、用户体验和开销，避免只用单个 0% 数字代表可部署性；这比单点 demo 更接近系统安全论证。</a:t>
            </a:r>
          </a:p>
        </p:txBody>
      </p:sp>
      <p:pic>
        <p:nvPicPr>
          <p:cNvPr id="100231" name="PPW_VISUAL_S29" descr="密集网页经解析与简化后再由 LLM 解释的两阶段机制"/>
          <p:cNvPicPr>
            <a:picLocks noChangeAspect="1"/>
          </p:cNvPicPr>
          <p:nvPr/>
        </p:nvPicPr>
        <p:blipFill>
          <a:blip r:embed="Rfb7aaa6c28f249c0"/>
          <a:stretch>
            <a:fillRect/>
          </a:stretch>
        </p:blipFill>
        <p:spPr>
          <a:xfrm>
            <a:off x="2817125" y="4180375"/>
            <a:ext cx="6557749" cy="220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8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14="http://schemas.microsoft.com/office/drawing/2010/main" xmlns:a16="http://schemas.microsoft.com/office/drawing/2014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 descr="模板装饰图形（不承载论文内容）"/>
          <p:cNvPicPr/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6024000" y="-3032194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 descr="模板装饰图形（不承载论文内容）"/>
          <p:cNvPicPr/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6024001" y="-127232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2204967"/>
            <a:ext cx="12192000" cy="2861362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0" y="3142947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请各位老师和同学批评指正</a:t>
            </a:r>
          </a:p>
        </p:txBody>
      </p:sp>
      <p:pic>
        <p:nvPicPr>
          <p:cNvPr id="19" name="图片 18" descr="模板装饰图形（不承载论文内容）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82973" y="652725"/>
            <a:ext cx="4226054" cy="886197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FD59879-B845-2653-16F4-F3D25130F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t>32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83B97EE8-72D3-4C35-9652-F0C21451EEDE}"/>
              </a:ext>
            </a:extLst>
          </p:cNvPr>
          <p:cNvSpPr txBox="1"/>
          <p:nvPr/>
        </p:nvSpPr>
        <p:spPr>
          <a:xfrm>
            <a:off x="3489371" y="5704474"/>
            <a:ext cx="1979981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报告人</a:t>
            </a:r>
            <a:r>
              <a:rPr lang="zh-CN" altLang="en-US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：程逸飞</a:t>
            </a:r>
            <a:endParaRPr lang="en-US" altLang="zh-CN" sz="1800" dirty="0">
              <a:solidFill>
                <a:srgbClr val="194A96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6E336237-E52D-4985-90E1-4FC81B11C49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923401" y="565962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194A96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7C5E1B8A-736D-4436-8990-7179A0BB6742}"/>
              </a:ext>
            </a:extLst>
          </p:cNvPr>
          <p:cNvSpPr txBox="1"/>
          <p:nvPr/>
        </p:nvSpPr>
        <p:spPr>
          <a:xfrm>
            <a:off x="7288948" y="5662221"/>
            <a:ext cx="2311803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指导老师</a:t>
            </a:r>
            <a:r>
              <a:rPr lang="zh-CN" altLang="en-US" sz="2000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：朱宇佳 </a:t>
            </a:r>
          </a:p>
        </p:txBody>
      </p:sp>
      <p:sp>
        <p:nvSpPr>
          <p:cNvPr id="25" name="Freeform 8">
            <a:extLst>
              <a:ext uri="{FF2B5EF4-FFF2-40B4-BE49-F238E27FC236}">
                <a16:creationId xmlns:a16="http://schemas.microsoft.com/office/drawing/2014/main" id="{A5FAB18F-A6FE-4273-88F4-890DB4AFF09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722649" y="5638313"/>
            <a:ext cx="464288" cy="466246"/>
          </a:xfrm>
          <a:custGeom>
            <a:avLst/>
            <a:gdLst>
              <a:gd name="T0" fmla="*/ 422 w 422"/>
              <a:gd name="T1" fmla="*/ 211 h 422"/>
              <a:gd name="T2" fmla="*/ 0 w 422"/>
              <a:gd name="T3" fmla="*/ 211 h 422"/>
              <a:gd name="T4" fmla="*/ 340 w 422"/>
              <a:gd name="T5" fmla="*/ 117 h 422"/>
              <a:gd name="T6" fmla="*/ 345 w 422"/>
              <a:gd name="T7" fmla="*/ 123 h 422"/>
              <a:gd name="T8" fmla="*/ 344 w 422"/>
              <a:gd name="T9" fmla="*/ 226 h 422"/>
              <a:gd name="T10" fmla="*/ 340 w 422"/>
              <a:gd name="T11" fmla="*/ 227 h 422"/>
              <a:gd name="T12" fmla="*/ 217 w 422"/>
              <a:gd name="T13" fmla="*/ 226 h 422"/>
              <a:gd name="T14" fmla="*/ 215 w 422"/>
              <a:gd name="T15" fmla="*/ 222 h 422"/>
              <a:gd name="T16" fmla="*/ 286 w 422"/>
              <a:gd name="T17" fmla="*/ 164 h 422"/>
              <a:gd name="T18" fmla="*/ 215 w 422"/>
              <a:gd name="T19" fmla="*/ 171 h 422"/>
              <a:gd name="T20" fmla="*/ 217 w 422"/>
              <a:gd name="T21" fmla="*/ 119 h 422"/>
              <a:gd name="T22" fmla="*/ 220 w 422"/>
              <a:gd name="T23" fmla="*/ 117 h 422"/>
              <a:gd name="T24" fmla="*/ 220 w 422"/>
              <a:gd name="T25" fmla="*/ 96 h 422"/>
              <a:gd name="T26" fmla="*/ 202 w 422"/>
              <a:gd name="T27" fmla="*/ 104 h 422"/>
              <a:gd name="T28" fmla="*/ 194 w 422"/>
              <a:gd name="T29" fmla="*/ 174 h 422"/>
              <a:gd name="T30" fmla="*/ 186 w 422"/>
              <a:gd name="T31" fmla="*/ 166 h 422"/>
              <a:gd name="T32" fmla="*/ 137 w 422"/>
              <a:gd name="T33" fmla="*/ 151 h 422"/>
              <a:gd name="T34" fmla="*/ 54 w 422"/>
              <a:gd name="T35" fmla="*/ 173 h 422"/>
              <a:gd name="T36" fmla="*/ 77 w 422"/>
              <a:gd name="T37" fmla="*/ 243 h 422"/>
              <a:gd name="T38" fmla="*/ 81 w 422"/>
              <a:gd name="T39" fmla="*/ 192 h 422"/>
              <a:gd name="T40" fmla="*/ 81 w 422"/>
              <a:gd name="T41" fmla="*/ 256 h 422"/>
              <a:gd name="T42" fmla="*/ 106 w 422"/>
              <a:gd name="T43" fmla="*/ 350 h 422"/>
              <a:gd name="T44" fmla="*/ 112 w 422"/>
              <a:gd name="T45" fmla="*/ 272 h 422"/>
              <a:gd name="T46" fmla="*/ 137 w 422"/>
              <a:gd name="T47" fmla="*/ 350 h 422"/>
              <a:gd name="T48" fmla="*/ 137 w 422"/>
              <a:gd name="T49" fmla="*/ 256 h 422"/>
              <a:gd name="T50" fmla="*/ 137 w 422"/>
              <a:gd name="T51" fmla="*/ 192 h 422"/>
              <a:gd name="T52" fmla="*/ 162 w 422"/>
              <a:gd name="T53" fmla="*/ 192 h 422"/>
              <a:gd name="T54" fmla="*/ 186 w 422"/>
              <a:gd name="T55" fmla="*/ 185 h 422"/>
              <a:gd name="T56" fmla="*/ 194 w 422"/>
              <a:gd name="T57" fmla="*/ 222 h 422"/>
              <a:gd name="T58" fmla="*/ 202 w 422"/>
              <a:gd name="T59" fmla="*/ 240 h 422"/>
              <a:gd name="T60" fmla="*/ 220 w 422"/>
              <a:gd name="T61" fmla="*/ 248 h 422"/>
              <a:gd name="T62" fmla="*/ 359 w 422"/>
              <a:gd name="T63" fmla="*/ 240 h 422"/>
              <a:gd name="T64" fmla="*/ 366 w 422"/>
              <a:gd name="T65" fmla="*/ 222 h 422"/>
              <a:gd name="T66" fmla="*/ 359 w 422"/>
              <a:gd name="T67" fmla="*/ 104 h 422"/>
              <a:gd name="T68" fmla="*/ 220 w 422"/>
              <a:gd name="T69" fmla="*/ 96 h 422"/>
              <a:gd name="T70" fmla="*/ 344 w 422"/>
              <a:gd name="T71" fmla="*/ 277 h 422"/>
              <a:gd name="T72" fmla="*/ 346 w 422"/>
              <a:gd name="T73" fmla="*/ 351 h 422"/>
              <a:gd name="T74" fmla="*/ 298 w 422"/>
              <a:gd name="T75" fmla="*/ 277 h 422"/>
              <a:gd name="T76" fmla="*/ 250 w 422"/>
              <a:gd name="T77" fmla="*/ 351 h 422"/>
              <a:gd name="T78" fmla="*/ 244 w 422"/>
              <a:gd name="T79" fmla="*/ 277 h 422"/>
              <a:gd name="T80" fmla="*/ 221 w 422"/>
              <a:gd name="T81" fmla="*/ 254 h 422"/>
              <a:gd name="T82" fmla="*/ 109 w 422"/>
              <a:gd name="T83" fmla="*/ 75 h 422"/>
              <a:gd name="T84" fmla="*/ 109 w 422"/>
              <a:gd name="T85" fmla="*/ 146 h 422"/>
              <a:gd name="T86" fmla="*/ 109 w 422"/>
              <a:gd name="T87" fmla="*/ 75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22" h="422">
                <a:moveTo>
                  <a:pt x="211" y="0"/>
                </a:moveTo>
                <a:cubicBezTo>
                  <a:pt x="327" y="0"/>
                  <a:pt x="422" y="94"/>
                  <a:pt x="422" y="211"/>
                </a:cubicBezTo>
                <a:cubicBezTo>
                  <a:pt x="422" y="327"/>
                  <a:pt x="327" y="422"/>
                  <a:pt x="211" y="422"/>
                </a:cubicBezTo>
                <a:cubicBezTo>
                  <a:pt x="94" y="422"/>
                  <a:pt x="0" y="327"/>
                  <a:pt x="0" y="211"/>
                </a:cubicBezTo>
                <a:cubicBezTo>
                  <a:pt x="0" y="94"/>
                  <a:pt x="94" y="0"/>
                  <a:pt x="211" y="0"/>
                </a:cubicBezTo>
                <a:close/>
                <a:moveTo>
                  <a:pt x="340" y="117"/>
                </a:moveTo>
                <a:cubicBezTo>
                  <a:pt x="341" y="117"/>
                  <a:pt x="343" y="118"/>
                  <a:pt x="344" y="119"/>
                </a:cubicBezTo>
                <a:cubicBezTo>
                  <a:pt x="345" y="120"/>
                  <a:pt x="345" y="121"/>
                  <a:pt x="345" y="123"/>
                </a:cubicBezTo>
                <a:lnTo>
                  <a:pt x="345" y="222"/>
                </a:lnTo>
                <a:cubicBezTo>
                  <a:pt x="345" y="223"/>
                  <a:pt x="345" y="225"/>
                  <a:pt x="344" y="226"/>
                </a:cubicBezTo>
                <a:lnTo>
                  <a:pt x="344" y="226"/>
                </a:lnTo>
                <a:cubicBezTo>
                  <a:pt x="343" y="227"/>
                  <a:pt x="341" y="227"/>
                  <a:pt x="340" y="227"/>
                </a:cubicBezTo>
                <a:lnTo>
                  <a:pt x="220" y="227"/>
                </a:lnTo>
                <a:cubicBezTo>
                  <a:pt x="219" y="227"/>
                  <a:pt x="218" y="227"/>
                  <a:pt x="217" y="226"/>
                </a:cubicBezTo>
                <a:lnTo>
                  <a:pt x="217" y="226"/>
                </a:lnTo>
                <a:cubicBezTo>
                  <a:pt x="216" y="225"/>
                  <a:pt x="215" y="223"/>
                  <a:pt x="215" y="222"/>
                </a:cubicBezTo>
                <a:lnTo>
                  <a:pt x="215" y="179"/>
                </a:lnTo>
                <a:lnTo>
                  <a:pt x="286" y="164"/>
                </a:lnTo>
                <a:lnTo>
                  <a:pt x="286" y="162"/>
                </a:lnTo>
                <a:lnTo>
                  <a:pt x="215" y="171"/>
                </a:lnTo>
                <a:lnTo>
                  <a:pt x="215" y="123"/>
                </a:lnTo>
                <a:cubicBezTo>
                  <a:pt x="215" y="121"/>
                  <a:pt x="216" y="120"/>
                  <a:pt x="217" y="119"/>
                </a:cubicBezTo>
                <a:lnTo>
                  <a:pt x="217" y="119"/>
                </a:lnTo>
                <a:cubicBezTo>
                  <a:pt x="218" y="118"/>
                  <a:pt x="219" y="117"/>
                  <a:pt x="220" y="117"/>
                </a:cubicBezTo>
                <a:lnTo>
                  <a:pt x="340" y="117"/>
                </a:lnTo>
                <a:close/>
                <a:moveTo>
                  <a:pt x="220" y="96"/>
                </a:moveTo>
                <a:cubicBezTo>
                  <a:pt x="213" y="96"/>
                  <a:pt x="206" y="99"/>
                  <a:pt x="202" y="104"/>
                </a:cubicBezTo>
                <a:lnTo>
                  <a:pt x="202" y="104"/>
                </a:lnTo>
                <a:cubicBezTo>
                  <a:pt x="197" y="109"/>
                  <a:pt x="194" y="115"/>
                  <a:pt x="194" y="123"/>
                </a:cubicBezTo>
                <a:lnTo>
                  <a:pt x="194" y="174"/>
                </a:lnTo>
                <a:lnTo>
                  <a:pt x="186" y="175"/>
                </a:lnTo>
                <a:lnTo>
                  <a:pt x="186" y="166"/>
                </a:lnTo>
                <a:lnTo>
                  <a:pt x="162" y="166"/>
                </a:lnTo>
                <a:lnTo>
                  <a:pt x="137" y="151"/>
                </a:lnTo>
                <a:lnTo>
                  <a:pt x="77" y="151"/>
                </a:lnTo>
                <a:cubicBezTo>
                  <a:pt x="64" y="151"/>
                  <a:pt x="54" y="161"/>
                  <a:pt x="54" y="173"/>
                </a:cubicBezTo>
                <a:lnTo>
                  <a:pt x="54" y="243"/>
                </a:lnTo>
                <a:lnTo>
                  <a:pt x="77" y="243"/>
                </a:lnTo>
                <a:lnTo>
                  <a:pt x="77" y="192"/>
                </a:lnTo>
                <a:lnTo>
                  <a:pt x="81" y="192"/>
                </a:lnTo>
                <a:lnTo>
                  <a:pt x="81" y="243"/>
                </a:lnTo>
                <a:lnTo>
                  <a:pt x="81" y="256"/>
                </a:lnTo>
                <a:lnTo>
                  <a:pt x="81" y="350"/>
                </a:lnTo>
                <a:lnTo>
                  <a:pt x="106" y="350"/>
                </a:lnTo>
                <a:lnTo>
                  <a:pt x="106" y="272"/>
                </a:lnTo>
                <a:lnTo>
                  <a:pt x="112" y="272"/>
                </a:lnTo>
                <a:lnTo>
                  <a:pt x="112" y="350"/>
                </a:lnTo>
                <a:lnTo>
                  <a:pt x="137" y="350"/>
                </a:lnTo>
                <a:lnTo>
                  <a:pt x="137" y="336"/>
                </a:lnTo>
                <a:lnTo>
                  <a:pt x="137" y="256"/>
                </a:lnTo>
                <a:lnTo>
                  <a:pt x="137" y="243"/>
                </a:lnTo>
                <a:lnTo>
                  <a:pt x="137" y="192"/>
                </a:lnTo>
                <a:lnTo>
                  <a:pt x="137" y="177"/>
                </a:lnTo>
                <a:lnTo>
                  <a:pt x="162" y="192"/>
                </a:lnTo>
                <a:lnTo>
                  <a:pt x="186" y="192"/>
                </a:lnTo>
                <a:lnTo>
                  <a:pt x="186" y="185"/>
                </a:lnTo>
                <a:lnTo>
                  <a:pt x="194" y="184"/>
                </a:lnTo>
                <a:lnTo>
                  <a:pt x="194" y="222"/>
                </a:lnTo>
                <a:cubicBezTo>
                  <a:pt x="194" y="229"/>
                  <a:pt x="197" y="236"/>
                  <a:pt x="202" y="240"/>
                </a:cubicBezTo>
                <a:lnTo>
                  <a:pt x="202" y="240"/>
                </a:lnTo>
                <a:lnTo>
                  <a:pt x="202" y="241"/>
                </a:lnTo>
                <a:cubicBezTo>
                  <a:pt x="207" y="245"/>
                  <a:pt x="213" y="248"/>
                  <a:pt x="220" y="248"/>
                </a:cubicBezTo>
                <a:lnTo>
                  <a:pt x="340" y="248"/>
                </a:lnTo>
                <a:cubicBezTo>
                  <a:pt x="347" y="248"/>
                  <a:pt x="354" y="245"/>
                  <a:pt x="359" y="240"/>
                </a:cubicBezTo>
                <a:lnTo>
                  <a:pt x="359" y="241"/>
                </a:lnTo>
                <a:cubicBezTo>
                  <a:pt x="363" y="236"/>
                  <a:pt x="366" y="229"/>
                  <a:pt x="366" y="222"/>
                </a:cubicBezTo>
                <a:lnTo>
                  <a:pt x="366" y="123"/>
                </a:lnTo>
                <a:cubicBezTo>
                  <a:pt x="366" y="115"/>
                  <a:pt x="363" y="109"/>
                  <a:pt x="359" y="104"/>
                </a:cubicBezTo>
                <a:cubicBezTo>
                  <a:pt x="354" y="99"/>
                  <a:pt x="347" y="96"/>
                  <a:pt x="340" y="96"/>
                </a:cubicBezTo>
                <a:lnTo>
                  <a:pt x="220" y="96"/>
                </a:lnTo>
                <a:close/>
                <a:moveTo>
                  <a:pt x="344" y="254"/>
                </a:moveTo>
                <a:lnTo>
                  <a:pt x="344" y="277"/>
                </a:lnTo>
                <a:lnTo>
                  <a:pt x="325" y="277"/>
                </a:lnTo>
                <a:lnTo>
                  <a:pt x="346" y="351"/>
                </a:lnTo>
                <a:lnTo>
                  <a:pt x="319" y="351"/>
                </a:lnTo>
                <a:lnTo>
                  <a:pt x="298" y="277"/>
                </a:lnTo>
                <a:lnTo>
                  <a:pt x="271" y="277"/>
                </a:lnTo>
                <a:lnTo>
                  <a:pt x="250" y="351"/>
                </a:lnTo>
                <a:lnTo>
                  <a:pt x="223" y="351"/>
                </a:lnTo>
                <a:lnTo>
                  <a:pt x="244" y="277"/>
                </a:lnTo>
                <a:lnTo>
                  <a:pt x="221" y="277"/>
                </a:lnTo>
                <a:lnTo>
                  <a:pt x="221" y="254"/>
                </a:lnTo>
                <a:lnTo>
                  <a:pt x="344" y="254"/>
                </a:lnTo>
                <a:close/>
                <a:moveTo>
                  <a:pt x="109" y="75"/>
                </a:moveTo>
                <a:cubicBezTo>
                  <a:pt x="129" y="75"/>
                  <a:pt x="145" y="91"/>
                  <a:pt x="145" y="111"/>
                </a:cubicBezTo>
                <a:cubicBezTo>
                  <a:pt x="145" y="130"/>
                  <a:pt x="129" y="146"/>
                  <a:pt x="109" y="146"/>
                </a:cubicBezTo>
                <a:cubicBezTo>
                  <a:pt x="90" y="146"/>
                  <a:pt x="74" y="130"/>
                  <a:pt x="74" y="111"/>
                </a:cubicBezTo>
                <a:cubicBezTo>
                  <a:pt x="74" y="91"/>
                  <a:pt x="90" y="75"/>
                  <a:pt x="109" y="75"/>
                </a:cubicBezTo>
                <a:close/>
              </a:path>
            </a:pathLst>
          </a:custGeom>
          <a:solidFill>
            <a:srgbClr val="194A96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 sz="280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17021-9ED6-B6F7-2AAE-FA495B083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灯片编号占位符 56">
            <a:extLst>
              <a:ext uri="{FF2B5EF4-FFF2-40B4-BE49-F238E27FC236}">
                <a16:creationId xmlns:a16="http://schemas.microsoft.com/office/drawing/2014/main" id="{D596DE77-1B0D-ECFD-5D66-46551E9F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31</a:t>
            </a:r>
          </a:p>
        </p:txBody>
      </p:sp>
      <p:sp>
        <p:nvSpPr>
          <p:cNvPr id="100001" name="矩形 4">
            <a:extLst>
              <a:ext uri="{FF2B5EF4-FFF2-40B4-BE49-F238E27FC236}">
                <a16:creationId xmlns:a16="http://schemas.microsoft.com/office/drawing/2014/main" id="{A6A8A69A-CF6B-C924-666B-FE90A73B7E17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0002" name="图片 15" descr="模板装饰图形（不承载论文内容）">
            <a:extLst>
              <a:ext uri="{FF2B5EF4-FFF2-40B4-BE49-F238E27FC236}">
                <a16:creationId xmlns:a16="http://schemas.microsoft.com/office/drawing/2014/main" id="{366DFC22-EDB1-2DE8-5119-51EF7EBBE707}"/>
              </a:ext>
            </a:extLst>
          </p:cNvPr>
          <p:cNvPicPr>
            <a:picLocks noChangeAspect="1"/>
          </p:cNvPicPr>
          <p:nvPr/>
        </p:nvPicPr>
        <p:blipFill>
          <a:blip r:embed="R47b98665a4b7400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003" name="矩形 16">
            <a:extLst>
              <a:ext uri="{FF2B5EF4-FFF2-40B4-BE49-F238E27FC236}">
                <a16:creationId xmlns:a16="http://schemas.microsoft.com/office/drawing/2014/main" id="{CB055CCD-4B42-F8C9-549F-D27E6DA74738}"/>
              </a:ext>
            </a:extLst>
          </p:cNvPr>
          <p:cNvSpPr/>
          <p:nvPr/>
        </p:nvSpPr>
        <p:spPr>
          <a:xfrm>
            <a:off x="9762189" y="762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004" name="TextBox 6">
            <a:extLst>
              <a:ext uri="{FF2B5EF4-FFF2-40B4-BE49-F238E27FC236}">
                <a16:creationId xmlns:a16="http://schemas.microsoft.com/office/drawing/2014/main" id="{7961E5C4-8019-9ECD-DA31-8F7B262645A2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005" name="TextBox 7">
            <a:extLst>
              <a:ext uri="{FF2B5EF4-FFF2-40B4-BE49-F238E27FC236}">
                <a16:creationId xmlns:a16="http://schemas.microsoft.com/office/drawing/2014/main" id="{05C6A6D7-B994-DBCA-8D2E-382B19562DE5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006" name="TextBox 9">
            <a:extLst>
              <a:ext uri="{FF2B5EF4-FFF2-40B4-BE49-F238E27FC236}">
                <a16:creationId xmlns:a16="http://schemas.microsoft.com/office/drawing/2014/main" id="{BF08DFA1-91AE-C3B8-D638-B6B91B95BCC3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007" name="TextBox 11">
            <a:extLst>
              <a:ext uri="{FF2B5EF4-FFF2-40B4-BE49-F238E27FC236}">
                <a16:creationId xmlns:a16="http://schemas.microsoft.com/office/drawing/2014/main" id="{836E016C-F69F-10B2-1CAB-CF7CD8E38C5C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sp>
        <p:nvSpPr>
          <p:cNvPr id="100008" name="矩形 2">
            <a:extLst>
              <a:ext uri="{FF2B5EF4-FFF2-40B4-BE49-F238E27FC236}">
                <a16:creationId xmlns:a16="http://schemas.microsoft.com/office/drawing/2014/main" id="{5F5CB01D-CA58-B835-5EE4-F3E212C1CB01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WebCloak 的价值是让低成本智能抓取失去规模优势</a:t>
            </a:r>
          </a:p>
        </p:txBody>
      </p:sp>
      <p:sp>
        <p:nvSpPr>
          <p:cNvPr id="100009" name="矩形 4">
            <a:extLst>
              <a:ext uri="{FF2B5EF4-FFF2-40B4-BE49-F238E27FC236}">
                <a16:creationId xmlns:a16="http://schemas.microsoft.com/office/drawing/2014/main" id="{6CF83DBD-C448-239A-6E0D-66039AB11EB6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威胁结论：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LLM 已把网页抓取从专业脚本开发转为自然语言驱动，三类范式的测量说明网站资产面临可扩展的新型滥用风险。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技术结论：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WebCloak 同时破坏结构解析与语义解释，并通过客户端恢复维持人类视觉，实质上重新定义机器和用户看到的页面。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保留判断：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现有证据支持其作为正交防线提高攻击成本；是否能应对专家、社交媒体和下一代端到端 Agent，仍需新的公开评测。</a:t>
            </a:r>
          </a:p>
        </p:txBody>
      </p:sp>
      <p:pic>
        <p:nvPicPr>
          <p:cNvPr id="100233" name="PPW_VISUAL_S31" descr="原始网页经动态结构混淆和优化语义迷宫形成受保护网页"/>
          <p:cNvPicPr>
            <a:picLocks noChangeAspect="1"/>
          </p:cNvPicPr>
          <p:nvPr/>
        </p:nvPicPr>
        <p:blipFill>
          <a:blip r:embed="Rc9d7222c112d42a0"/>
          <a:stretch>
            <a:fillRect/>
          </a:stretch>
        </p:blipFill>
        <p:spPr>
          <a:xfrm>
            <a:off x="2817125" y="4108587"/>
            <a:ext cx="6557749" cy="234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8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17021-9ED6-B6F7-2AAE-FA495B083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1" name="灯片编号占位符 56">
            <a:extLst>
              <a:ext uri="{FF2B5EF4-FFF2-40B4-BE49-F238E27FC236}">
                <a16:creationId xmlns:a16="http://schemas.microsoft.com/office/drawing/2014/main" id="{D596DE77-1B0D-ECFD-5D66-46551E9F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30</a:t>
            </a:r>
          </a:p>
        </p:txBody>
      </p:sp>
      <p:sp>
        <p:nvSpPr>
          <p:cNvPr id="100012" name="矩形 4">
            <a:extLst>
              <a:ext uri="{FF2B5EF4-FFF2-40B4-BE49-F238E27FC236}">
                <a16:creationId xmlns:a16="http://schemas.microsoft.com/office/drawing/2014/main" id="{A6A8A69A-CF6B-C924-666B-FE90A73B7E17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0013" name="图片 15" descr="模板装饰图形（不承载论文内容）">
            <a:extLst>
              <a:ext uri="{FF2B5EF4-FFF2-40B4-BE49-F238E27FC236}">
                <a16:creationId xmlns:a16="http://schemas.microsoft.com/office/drawing/2014/main" id="{366DFC22-EDB1-2DE8-5119-51EF7EBBE707}"/>
              </a:ext>
            </a:extLst>
          </p:cNvPr>
          <p:cNvPicPr>
            <a:picLocks noChangeAspect="1"/>
          </p:cNvPicPr>
          <p:nvPr/>
        </p:nvPicPr>
        <p:blipFill>
          <a:blip r:embed="R47887b4d5d3c458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014" name="矩形 16">
            <a:extLst>
              <a:ext uri="{FF2B5EF4-FFF2-40B4-BE49-F238E27FC236}">
                <a16:creationId xmlns:a16="http://schemas.microsoft.com/office/drawing/2014/main" id="{CB055CCD-4B42-F8C9-549F-D27E6DA74738}"/>
              </a:ext>
            </a:extLst>
          </p:cNvPr>
          <p:cNvSpPr/>
          <p:nvPr/>
        </p:nvSpPr>
        <p:spPr>
          <a:xfrm>
            <a:off x="9762189" y="762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015" name="TextBox 6">
            <a:extLst>
              <a:ext uri="{FF2B5EF4-FFF2-40B4-BE49-F238E27FC236}">
                <a16:creationId xmlns:a16="http://schemas.microsoft.com/office/drawing/2014/main" id="{7961E5C4-8019-9ECD-DA31-8F7B262645A2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016" name="TextBox 7">
            <a:extLst>
              <a:ext uri="{FF2B5EF4-FFF2-40B4-BE49-F238E27FC236}">
                <a16:creationId xmlns:a16="http://schemas.microsoft.com/office/drawing/2014/main" id="{05C6A6D7-B994-DBCA-8D2E-382B19562DE5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017" name="TextBox 9">
            <a:extLst>
              <a:ext uri="{FF2B5EF4-FFF2-40B4-BE49-F238E27FC236}">
                <a16:creationId xmlns:a16="http://schemas.microsoft.com/office/drawing/2014/main" id="{BF08DFA1-91AE-C3B8-D638-B6B91B95BCC3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018" name="TextBox 11">
            <a:extLst>
              <a:ext uri="{FF2B5EF4-FFF2-40B4-BE49-F238E27FC236}">
                <a16:creationId xmlns:a16="http://schemas.microsoft.com/office/drawing/2014/main" id="{836E016C-F69F-10B2-1CAB-CF7CD8E38C5C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sp>
        <p:nvSpPr>
          <p:cNvPr id="100019" name="矩形 2">
            <a:extLst>
              <a:ext uri="{FF2B5EF4-FFF2-40B4-BE49-F238E27FC236}">
                <a16:creationId xmlns:a16="http://schemas.microsoft.com/office/drawing/2014/main" id="{5F5CB01D-CA58-B835-5EE4-F3E212C1CB01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0% 召回不能越过威胁模型与外部效度边界</a:t>
            </a:r>
          </a:p>
        </p:txBody>
      </p:sp>
      <p:sp>
        <p:nvSpPr>
          <p:cNvPr id="100020" name="矩形 4">
            <a:extLst>
              <a:ext uri="{FF2B5EF4-FFF2-40B4-BE49-F238E27FC236}">
                <a16:creationId xmlns:a16="http://schemas.microsoft.com/office/drawing/2014/main" id="{6CF83DBD-C448-239A-6E0D-66039AB11EB6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威胁模型边界：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攻击者可改提示并理解机制，却不逐页人工逆向或修改 Agent 核心；因此近零召回不代表对无限资源专家不可绕过。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外部效度：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benchmark 以离线图像页为主，不含社交媒体；音频与文本仅 10 页，UI-only 或未来端到端视觉 Agent 也缺少充分覆盖。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部署与新颖性：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Part 2 平均三分钟生成限制高速更新页面；meta-review 还质疑相对标准防御增益和 defensive prompt injection 的新颖性。</a:t>
            </a:r>
          </a:p>
        </p:txBody>
      </p:sp>
      <p:pic>
        <p:nvPicPr>
          <p:cNvPr id="100232" name="PPW_VISUAL_S30" descr="不同提示删除比例下三类 Web Agent 的图像召回率曲线"/>
          <p:cNvPicPr>
            <a:picLocks noChangeAspect="1"/>
          </p:cNvPicPr>
          <p:nvPr/>
        </p:nvPicPr>
        <p:blipFill>
          <a:blip r:embed="R361b669e0db040ce"/>
          <a:stretch>
            <a:fillRect/>
          </a:stretch>
        </p:blipFill>
        <p:spPr>
          <a:xfrm>
            <a:off x="3186006" y="3934835"/>
            <a:ext cx="5819988" cy="26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8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6FD2-825D-DF8F-3260-9149CB47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2" name="灯片编号占位符 56">
            <a:extLst>
              <a:ext uri="{FF2B5EF4-FFF2-40B4-BE49-F238E27FC236}">
                <a16:creationId xmlns:a16="http://schemas.microsoft.com/office/drawing/2014/main" id="{84C7AA80-A734-F77C-762A-1264A8F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27</a:t>
            </a:r>
          </a:p>
        </p:txBody>
      </p:sp>
      <p:sp>
        <p:nvSpPr>
          <p:cNvPr id="100023" name="矩形 4">
            <a:extLst>
              <a:ext uri="{FF2B5EF4-FFF2-40B4-BE49-F238E27FC236}">
                <a16:creationId xmlns:a16="http://schemas.microsoft.com/office/drawing/2014/main" id="{D6FE8AC4-FBB2-7B4B-AE08-3760F2DC885D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0024" name="图片 15" descr="模板装饰图形（不承载论文内容）">
            <a:extLst>
              <a:ext uri="{FF2B5EF4-FFF2-40B4-BE49-F238E27FC236}">
                <a16:creationId xmlns:a16="http://schemas.microsoft.com/office/drawing/2014/main" id="{02434977-B8FC-3C81-9C90-17275A1170D8}"/>
              </a:ext>
            </a:extLst>
          </p:cNvPr>
          <p:cNvPicPr>
            <a:picLocks noChangeAspect="1"/>
          </p:cNvPicPr>
          <p:nvPr/>
        </p:nvPicPr>
        <p:blipFill>
          <a:blip r:embed="R4b5d1890864d438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025" name="矩形 16">
            <a:extLst>
              <a:ext uri="{FF2B5EF4-FFF2-40B4-BE49-F238E27FC236}">
                <a16:creationId xmlns:a16="http://schemas.microsoft.com/office/drawing/2014/main" id="{F867B96C-0ACA-E041-6A67-47BD83D8C500}"/>
              </a:ext>
            </a:extLst>
          </p:cNvPr>
          <p:cNvSpPr/>
          <p:nvPr/>
        </p:nvSpPr>
        <p:spPr>
          <a:xfrm>
            <a:off x="7639103" y="762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026" name="TextBox 6">
            <a:extLst>
              <a:ext uri="{FF2B5EF4-FFF2-40B4-BE49-F238E27FC236}">
                <a16:creationId xmlns:a16="http://schemas.microsoft.com/office/drawing/2014/main" id="{C69FB2B6-47F5-BAA5-DC9B-26714D9A12C5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027" name="TextBox 7">
            <a:extLst>
              <a:ext uri="{FF2B5EF4-FFF2-40B4-BE49-F238E27FC236}">
                <a16:creationId xmlns:a16="http://schemas.microsoft.com/office/drawing/2014/main" id="{C729982E-CE57-317B-FB68-34F9ACADDCF7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028" name="TextBox 9">
            <a:extLst>
              <a:ext uri="{FF2B5EF4-FFF2-40B4-BE49-F238E27FC236}">
                <a16:creationId xmlns:a16="http://schemas.microsoft.com/office/drawing/2014/main" id="{17E52703-6C44-9695-48CA-4A3CAF24DF40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029" name="TextBox 11">
            <a:extLst>
              <a:ext uri="{FF2B5EF4-FFF2-40B4-BE49-F238E27FC236}">
                <a16:creationId xmlns:a16="http://schemas.microsoft.com/office/drawing/2014/main" id="{7B5D4C98-24A2-336D-9072-A0CB8E9AD16D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sp>
        <p:nvSpPr>
          <p:cNvPr id="100030" name="矩形 3">
            <a:extLst>
              <a:ext uri="{FF2B5EF4-FFF2-40B4-BE49-F238E27FC236}">
                <a16:creationId xmlns:a16="http://schemas.microsoft.com/office/drawing/2014/main" id="{4D235838-5580-BA37-9B9C-151BE307A6ED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RQ4：客户端轻量，语义生成是主要部署成本</a:t>
            </a:r>
          </a:p>
        </p:txBody>
      </p:sp>
      <p:sp>
        <p:nvSpPr>
          <p:cNvPr id="100031" name="矩形 7">
            <a:extLst>
              <a:ext uri="{FF2B5EF4-FFF2-40B4-BE49-F238E27FC236}">
                <a16:creationId xmlns:a16="http://schemas.microsoft.com/office/drawing/2014/main" id="{2C0F7812-435E-7C84-7467-BCB8DE641BDA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页面体积：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平均 HTML 从 0.69 MB 增至 0.83 MB，增加 20.8%；token 从约 257k 增至 273k，增加 6.4%。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生成成本：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Part 1 平均仅 13 ms，但包含语义优化的完整服务器端转换平均 179.7 秒，适合批处理与缓存而非每次即时生成。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客户端成本：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视觉恢复平均 0.052 秒，用户侧延迟很低；真正部署取舍在 Part 2 的内容更新频率、缓存策略与防护收益。</a:t>
            </a:r>
          </a:p>
        </p:txBody>
      </p:sp>
      <p:pic>
        <p:nvPicPr>
          <p:cNvPr id="100230" name="PPW_VISUAL_S27" descr="文件体积、HTML token、Part 1 与完整服务器生成、客户端恢复开销对比表"/>
          <p:cNvPicPr>
            <a:picLocks noChangeAspect="1"/>
          </p:cNvPicPr>
          <p:nvPr/>
        </p:nvPicPr>
        <p:blipFill>
          <a:blip r:embed="Rb41cfeccb5f645cb"/>
          <a:stretch>
            <a:fillRect/>
          </a:stretch>
        </p:blipFill>
        <p:spPr>
          <a:xfrm>
            <a:off x="2861481" y="3934835"/>
            <a:ext cx="6469037" cy="26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4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6FD2-825D-DF8F-3260-9149CB47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3" name="灯片编号占位符 56">
            <a:extLst>
              <a:ext uri="{FF2B5EF4-FFF2-40B4-BE49-F238E27FC236}">
                <a16:creationId xmlns:a16="http://schemas.microsoft.com/office/drawing/2014/main" id="{84C7AA80-A734-F77C-762A-1264A8F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26</a:t>
            </a:r>
          </a:p>
        </p:txBody>
      </p:sp>
      <p:sp>
        <p:nvSpPr>
          <p:cNvPr id="100034" name="矩形 4">
            <a:extLst>
              <a:ext uri="{FF2B5EF4-FFF2-40B4-BE49-F238E27FC236}">
                <a16:creationId xmlns:a16="http://schemas.microsoft.com/office/drawing/2014/main" id="{D6FE8AC4-FBB2-7B4B-AE08-3760F2DC885D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0035" name="图片 15" descr="模板装饰图形（不承载论文内容）">
            <a:extLst>
              <a:ext uri="{FF2B5EF4-FFF2-40B4-BE49-F238E27FC236}">
                <a16:creationId xmlns:a16="http://schemas.microsoft.com/office/drawing/2014/main" id="{02434977-B8FC-3C81-9C90-17275A1170D8}"/>
              </a:ext>
            </a:extLst>
          </p:cNvPr>
          <p:cNvPicPr>
            <a:picLocks noChangeAspect="1"/>
          </p:cNvPicPr>
          <p:nvPr/>
        </p:nvPicPr>
        <p:blipFill>
          <a:blip r:embed="R648c72fd90da41fc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036" name="矩形 16">
            <a:extLst>
              <a:ext uri="{FF2B5EF4-FFF2-40B4-BE49-F238E27FC236}">
                <a16:creationId xmlns:a16="http://schemas.microsoft.com/office/drawing/2014/main" id="{F867B96C-0ACA-E041-6A67-47BD83D8C500}"/>
              </a:ext>
            </a:extLst>
          </p:cNvPr>
          <p:cNvSpPr/>
          <p:nvPr/>
        </p:nvSpPr>
        <p:spPr>
          <a:xfrm>
            <a:off x="7639103" y="762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037" name="TextBox 6">
            <a:extLst>
              <a:ext uri="{FF2B5EF4-FFF2-40B4-BE49-F238E27FC236}">
                <a16:creationId xmlns:a16="http://schemas.microsoft.com/office/drawing/2014/main" id="{C69FB2B6-47F5-BAA5-DC9B-26714D9A12C5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038" name="TextBox 7">
            <a:extLst>
              <a:ext uri="{FF2B5EF4-FFF2-40B4-BE49-F238E27FC236}">
                <a16:creationId xmlns:a16="http://schemas.microsoft.com/office/drawing/2014/main" id="{C729982E-CE57-317B-FB68-34F9ACADDCF7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039" name="TextBox 9">
            <a:extLst>
              <a:ext uri="{FF2B5EF4-FFF2-40B4-BE49-F238E27FC236}">
                <a16:creationId xmlns:a16="http://schemas.microsoft.com/office/drawing/2014/main" id="{17E52703-6C44-9695-48CA-4A3CAF24DF40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040" name="TextBox 11">
            <a:extLst>
              <a:ext uri="{FF2B5EF4-FFF2-40B4-BE49-F238E27FC236}">
                <a16:creationId xmlns:a16="http://schemas.microsoft.com/office/drawing/2014/main" id="{7B5D4C98-24A2-336D-9072-A0CB8E9AD16D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sp>
        <p:nvSpPr>
          <p:cNvPr id="100041" name="矩形 3">
            <a:extLst>
              <a:ext uri="{FF2B5EF4-FFF2-40B4-BE49-F238E27FC236}">
                <a16:creationId xmlns:a16="http://schemas.microsoft.com/office/drawing/2014/main" id="{4D235838-5580-BA37-9B9C-151BE307A6ED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RQ3：视觉与主观体验总体保持稳定</a:t>
            </a:r>
          </a:p>
        </p:txBody>
      </p:sp>
      <p:sp>
        <p:nvSpPr>
          <p:cNvPr id="100042" name="矩形 7">
            <a:extLst>
              <a:ext uri="{FF2B5EF4-FFF2-40B4-BE49-F238E27FC236}">
                <a16:creationId xmlns:a16="http://schemas.microsoft.com/office/drawing/2014/main" id="{2C0F7812-435E-7C84-7467-BCB8DE641BDA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视觉保真：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五个代表页面与原版渲染的 JCD 平均低于 0.01，远低于无关页面参考值 0.5261，表明结构变换和恢复没有造成明显像素级视觉差异。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用户研究：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35 名参与者随机比较原始与保护页面，视觉、加载、可区分性、功能和总体体验五项负面评分均低于 1.8；91.4% 不认为总体体验受损。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性能变化：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FCP、LCP、TTI 与 Lighthouse 分数仍有小幅损失，例如 Mac Chrome 的 LCP 增加 0.88 秒、综合分数下降 5.2；用户主观上未明显感知。</a:t>
            </a:r>
          </a:p>
        </p:txBody>
      </p:sp>
      <p:pic>
        <p:nvPicPr>
          <p:cNvPr id="100229" name="PPW_VISUAL_S26" descr="五项用户体验问题的平均评分与不同意负面陈述比例柱状图"/>
          <p:cNvPicPr>
            <a:picLocks noChangeAspect="1"/>
          </p:cNvPicPr>
          <p:nvPr/>
        </p:nvPicPr>
        <p:blipFill>
          <a:blip r:embed="Rcc5a53036a22451e"/>
          <a:stretch>
            <a:fillRect/>
          </a:stretch>
        </p:blipFill>
        <p:spPr>
          <a:xfrm>
            <a:off x="2817125" y="4087565"/>
            <a:ext cx="6557749" cy="238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4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6FD2-825D-DF8F-3260-9149CB47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4" name="灯片编号占位符 56">
            <a:extLst>
              <a:ext uri="{FF2B5EF4-FFF2-40B4-BE49-F238E27FC236}">
                <a16:creationId xmlns:a16="http://schemas.microsoft.com/office/drawing/2014/main" id="{84C7AA80-A734-F77C-762A-1264A8F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25</a:t>
            </a:r>
          </a:p>
        </p:txBody>
      </p:sp>
      <p:sp>
        <p:nvSpPr>
          <p:cNvPr id="100045" name="矩形 4">
            <a:extLst>
              <a:ext uri="{FF2B5EF4-FFF2-40B4-BE49-F238E27FC236}">
                <a16:creationId xmlns:a16="http://schemas.microsoft.com/office/drawing/2014/main" id="{D6FE8AC4-FBB2-7B4B-AE08-3760F2DC885D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0046" name="图片 15" descr="模板装饰图形（不承载论文内容）">
            <a:extLst>
              <a:ext uri="{FF2B5EF4-FFF2-40B4-BE49-F238E27FC236}">
                <a16:creationId xmlns:a16="http://schemas.microsoft.com/office/drawing/2014/main" id="{02434977-B8FC-3C81-9C90-17275A1170D8}"/>
              </a:ext>
            </a:extLst>
          </p:cNvPr>
          <p:cNvPicPr>
            <a:picLocks noChangeAspect="1"/>
          </p:cNvPicPr>
          <p:nvPr/>
        </p:nvPicPr>
        <p:blipFill>
          <a:blip r:embed="R51c11a7501d048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047" name="矩形 16">
            <a:extLst>
              <a:ext uri="{FF2B5EF4-FFF2-40B4-BE49-F238E27FC236}">
                <a16:creationId xmlns:a16="http://schemas.microsoft.com/office/drawing/2014/main" id="{F867B96C-0ACA-E041-6A67-47BD83D8C500}"/>
              </a:ext>
            </a:extLst>
          </p:cNvPr>
          <p:cNvSpPr/>
          <p:nvPr/>
        </p:nvSpPr>
        <p:spPr>
          <a:xfrm>
            <a:off x="7639103" y="762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048" name="TextBox 6">
            <a:extLst>
              <a:ext uri="{FF2B5EF4-FFF2-40B4-BE49-F238E27FC236}">
                <a16:creationId xmlns:a16="http://schemas.microsoft.com/office/drawing/2014/main" id="{C69FB2B6-47F5-BAA5-DC9B-26714D9A12C5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049" name="TextBox 7">
            <a:extLst>
              <a:ext uri="{FF2B5EF4-FFF2-40B4-BE49-F238E27FC236}">
                <a16:creationId xmlns:a16="http://schemas.microsoft.com/office/drawing/2014/main" id="{C729982E-CE57-317B-FB68-34F9ACADDCF7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050" name="TextBox 9">
            <a:extLst>
              <a:ext uri="{FF2B5EF4-FFF2-40B4-BE49-F238E27FC236}">
                <a16:creationId xmlns:a16="http://schemas.microsoft.com/office/drawing/2014/main" id="{17E52703-6C44-9695-48CA-4A3CAF24DF40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051" name="TextBox 11">
            <a:extLst>
              <a:ext uri="{FF2B5EF4-FFF2-40B4-BE49-F238E27FC236}">
                <a16:creationId xmlns:a16="http://schemas.microsoft.com/office/drawing/2014/main" id="{7B5D4C98-24A2-336D-9072-A0CB8E9AD16D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sp>
        <p:nvSpPr>
          <p:cNvPr id="100052" name="矩形 3">
            <a:extLst>
              <a:ext uri="{FF2B5EF4-FFF2-40B4-BE49-F238E27FC236}">
                <a16:creationId xmlns:a16="http://schemas.microsoft.com/office/drawing/2014/main" id="{4D235838-5580-BA37-9B9C-151BE307A6ED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RQ2：删除九成语义提示后防御仍缓慢退化</a:t>
            </a:r>
          </a:p>
        </p:txBody>
      </p:sp>
      <p:sp>
        <p:nvSpPr>
          <p:cNvPr id="100053" name="矩形 7">
            <a:extLst>
              <a:ext uri="{FF2B5EF4-FFF2-40B4-BE49-F238E27FC236}">
                <a16:creationId xmlns:a16="http://schemas.microsoft.com/office/drawing/2014/main" id="{2C0F7812-435E-7C84-7467-BCB8DE641BDA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隔离实验：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仅启用 Part 2，逐步删除页面中的防御提示；L2S 不参与，因为该层主要针对具备较强解释能力的 LNC/LWA。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缓慢退化：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删除 90% 提示后，Crawl4AI 与 Browser-Use 召回仍仅 30.5% 和 21.2%；全部移除才接近原始能力。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机制解释：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语义线索在复杂 HTML 中分散、形式和位置动态变化，攻击者若要可靠识别并清除，人工与规则维护成本会快速上升。</a:t>
            </a:r>
          </a:p>
        </p:txBody>
      </p:sp>
      <p:pic>
        <p:nvPicPr>
          <p:cNvPr id="100228" name="PPW_VISUAL_S25" descr="随着移除语义防御提示比例增加，Crawl4AI 与 Browser-Use 召回逐步上升的折线图"/>
          <p:cNvPicPr>
            <a:picLocks noChangeAspect="1"/>
          </p:cNvPicPr>
          <p:nvPr/>
        </p:nvPicPr>
        <p:blipFill>
          <a:blip r:embed="R68104c41d8854476"/>
          <a:stretch>
            <a:fillRect/>
          </a:stretch>
        </p:blipFill>
        <p:spPr>
          <a:xfrm>
            <a:off x="3186006" y="3934835"/>
            <a:ext cx="5819988" cy="26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4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6FD2-825D-DF8F-3260-9149CB47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5" name="灯片编号占位符 56">
            <a:extLst>
              <a:ext uri="{FF2B5EF4-FFF2-40B4-BE49-F238E27FC236}">
                <a16:creationId xmlns:a16="http://schemas.microsoft.com/office/drawing/2014/main" id="{84C7AA80-A734-F77C-762A-1264A8F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24</a:t>
            </a:r>
          </a:p>
        </p:txBody>
      </p:sp>
      <p:sp>
        <p:nvSpPr>
          <p:cNvPr id="100056" name="矩形 4">
            <a:extLst>
              <a:ext uri="{FF2B5EF4-FFF2-40B4-BE49-F238E27FC236}">
                <a16:creationId xmlns:a16="http://schemas.microsoft.com/office/drawing/2014/main" id="{D6FE8AC4-FBB2-7B4B-AE08-3760F2DC885D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0057" name="图片 15" descr="模板装饰图形（不承载论文内容）">
            <a:extLst>
              <a:ext uri="{FF2B5EF4-FFF2-40B4-BE49-F238E27FC236}">
                <a16:creationId xmlns:a16="http://schemas.microsoft.com/office/drawing/2014/main" id="{02434977-B8FC-3C81-9C90-17275A1170D8}"/>
              </a:ext>
            </a:extLst>
          </p:cNvPr>
          <p:cNvPicPr>
            <a:picLocks noChangeAspect="1"/>
          </p:cNvPicPr>
          <p:nvPr/>
        </p:nvPicPr>
        <p:blipFill>
          <a:blip r:embed="R9d783a37c5c841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058" name="矩形 16">
            <a:extLst>
              <a:ext uri="{FF2B5EF4-FFF2-40B4-BE49-F238E27FC236}">
                <a16:creationId xmlns:a16="http://schemas.microsoft.com/office/drawing/2014/main" id="{F867B96C-0ACA-E041-6A67-47BD83D8C500}"/>
              </a:ext>
            </a:extLst>
          </p:cNvPr>
          <p:cNvSpPr/>
          <p:nvPr/>
        </p:nvSpPr>
        <p:spPr>
          <a:xfrm>
            <a:off x="7639103" y="762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059" name="TextBox 6">
            <a:extLst>
              <a:ext uri="{FF2B5EF4-FFF2-40B4-BE49-F238E27FC236}">
                <a16:creationId xmlns:a16="http://schemas.microsoft.com/office/drawing/2014/main" id="{C69FB2B6-47F5-BAA5-DC9B-26714D9A12C5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060" name="TextBox 7">
            <a:extLst>
              <a:ext uri="{FF2B5EF4-FFF2-40B4-BE49-F238E27FC236}">
                <a16:creationId xmlns:a16="http://schemas.microsoft.com/office/drawing/2014/main" id="{C729982E-CE57-317B-FB68-34F9ACADDCF7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061" name="TextBox 9">
            <a:extLst>
              <a:ext uri="{FF2B5EF4-FFF2-40B4-BE49-F238E27FC236}">
                <a16:creationId xmlns:a16="http://schemas.microsoft.com/office/drawing/2014/main" id="{17E52703-6C44-9695-48CA-4A3CAF24DF40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062" name="TextBox 11">
            <a:extLst>
              <a:ext uri="{FF2B5EF4-FFF2-40B4-BE49-F238E27FC236}">
                <a16:creationId xmlns:a16="http://schemas.microsoft.com/office/drawing/2014/main" id="{7B5D4C98-24A2-336D-9072-A0CB8E9AD16D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sp>
        <p:nvSpPr>
          <p:cNvPr id="100063" name="矩形 3">
            <a:extLst>
              <a:ext uri="{FF2B5EF4-FFF2-40B4-BE49-F238E27FC236}">
                <a16:creationId xmlns:a16="http://schemas.microsoft.com/office/drawing/2014/main" id="{4D235838-5580-BA37-9B9C-151BE307A6ED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RQ2：已知机制并多轮适应仍只恢复极少召回</a:t>
            </a:r>
          </a:p>
        </p:txBody>
      </p:sp>
      <p:sp>
        <p:nvSpPr>
          <p:cNvPr id="100064" name="矩形 7">
            <a:extLst>
              <a:ext uri="{FF2B5EF4-FFF2-40B4-BE49-F238E27FC236}">
                <a16:creationId xmlns:a16="http://schemas.microsoft.com/office/drawing/2014/main" id="{2C0F7812-435E-7C84-7467-BCB8DE641BDA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静态对照：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告知固定标签替换模式并要求重新生成脚本后，L2S 对静态基线召回从 0% 回升到 52.3%；面对每会话随机的 WebCloak Part 1 仅回升到 0.13%。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完整防御：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简单重试、已知两层原理并提供示例、多轮携带执行日志三种攻击下，最高召回是 Crawl4AI 知识型攻击的 1.58%，其余多在 0.30% 以下。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适用解释：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这些结果支持对新手到中等攻击者形成成本不对称，但实验未覆盖逐页人工逆向随机脚本、持续维护站点规则或重写 Agent 核心解析逻辑的高投入专家。</a:t>
            </a:r>
          </a:p>
        </p:txBody>
      </p:sp>
      <p:pic>
        <p:nvPicPr>
          <p:cNvPr id="100227" name="PPW_VISUAL_S24" descr="简单重试、知识型与多轮知识型攻击对三种 Agent 的召回表"/>
          <p:cNvPicPr>
            <a:picLocks noChangeAspect="1"/>
          </p:cNvPicPr>
          <p:nvPr/>
        </p:nvPicPr>
        <p:blipFill>
          <a:blip r:embed="R0a3596ffe95f4794"/>
          <a:stretch>
            <a:fillRect/>
          </a:stretch>
        </p:blipFill>
        <p:spPr>
          <a:xfrm>
            <a:off x="2934331" y="3934835"/>
            <a:ext cx="6323338" cy="26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4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6FD2-825D-DF8F-3260-9149CB47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66" name="灯片编号占位符 56">
            <a:extLst>
              <a:ext uri="{FF2B5EF4-FFF2-40B4-BE49-F238E27FC236}">
                <a16:creationId xmlns:a16="http://schemas.microsoft.com/office/drawing/2014/main" id="{84C7AA80-A734-F77C-762A-1264A8F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23</a:t>
            </a:r>
          </a:p>
        </p:txBody>
      </p:sp>
      <p:sp>
        <p:nvSpPr>
          <p:cNvPr id="100067" name="矩形 4">
            <a:extLst>
              <a:ext uri="{FF2B5EF4-FFF2-40B4-BE49-F238E27FC236}">
                <a16:creationId xmlns:a16="http://schemas.microsoft.com/office/drawing/2014/main" id="{D6FE8AC4-FBB2-7B4B-AE08-3760F2DC885D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0068" name="图片 15" descr="模板装饰图形（不承载论文内容）">
            <a:extLst>
              <a:ext uri="{FF2B5EF4-FFF2-40B4-BE49-F238E27FC236}">
                <a16:creationId xmlns:a16="http://schemas.microsoft.com/office/drawing/2014/main" id="{02434977-B8FC-3C81-9C90-17275A1170D8}"/>
              </a:ext>
            </a:extLst>
          </p:cNvPr>
          <p:cNvPicPr>
            <a:picLocks noChangeAspect="1"/>
          </p:cNvPicPr>
          <p:nvPr/>
        </p:nvPicPr>
        <p:blipFill>
          <a:blip r:embed="R6a058695fb84410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069" name="矩形 16">
            <a:extLst>
              <a:ext uri="{FF2B5EF4-FFF2-40B4-BE49-F238E27FC236}">
                <a16:creationId xmlns:a16="http://schemas.microsoft.com/office/drawing/2014/main" id="{F867B96C-0ACA-E041-6A67-47BD83D8C500}"/>
              </a:ext>
            </a:extLst>
          </p:cNvPr>
          <p:cNvSpPr/>
          <p:nvPr/>
        </p:nvSpPr>
        <p:spPr>
          <a:xfrm>
            <a:off x="7639103" y="762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070" name="TextBox 6">
            <a:extLst>
              <a:ext uri="{FF2B5EF4-FFF2-40B4-BE49-F238E27FC236}">
                <a16:creationId xmlns:a16="http://schemas.microsoft.com/office/drawing/2014/main" id="{C69FB2B6-47F5-BAA5-DC9B-26714D9A12C5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071" name="TextBox 7">
            <a:extLst>
              <a:ext uri="{FF2B5EF4-FFF2-40B4-BE49-F238E27FC236}">
                <a16:creationId xmlns:a16="http://schemas.microsoft.com/office/drawing/2014/main" id="{C729982E-CE57-317B-FB68-34F9ACADDCF7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072" name="TextBox 9">
            <a:extLst>
              <a:ext uri="{FF2B5EF4-FFF2-40B4-BE49-F238E27FC236}">
                <a16:creationId xmlns:a16="http://schemas.microsoft.com/office/drawing/2014/main" id="{17E52703-6C44-9695-48CA-4A3CAF24DF40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073" name="TextBox 11">
            <a:extLst>
              <a:ext uri="{FF2B5EF4-FFF2-40B4-BE49-F238E27FC236}">
                <a16:creationId xmlns:a16="http://schemas.microsoft.com/office/drawing/2014/main" id="{7B5D4C98-24A2-336D-9072-A0CB8E9AD16D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sp>
        <p:nvSpPr>
          <p:cNvPr id="100074" name="矩形 3">
            <a:extLst>
              <a:ext uri="{FF2B5EF4-FFF2-40B4-BE49-F238E27FC236}">
                <a16:creationId xmlns:a16="http://schemas.microsoft.com/office/drawing/2014/main" id="{4D235838-5580-BA37-9B9C-151BE307A6ED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RQ2：更换模型、浏览器和系统仍保持近零召回</a:t>
            </a:r>
          </a:p>
        </p:txBody>
      </p:sp>
      <p:sp>
        <p:nvSpPr>
          <p:cNvPr id="100075" name="矩形 7">
            <a:extLst>
              <a:ext uri="{FF2B5EF4-FFF2-40B4-BE49-F238E27FC236}">
                <a16:creationId xmlns:a16="http://schemas.microsoft.com/office/drawing/2014/main" id="{2C0F7812-435E-7C84-7467-BCB8DE641BDA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模型后端：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固定 Crawl4AI 管线，分别切换 ChatGPT-4o、Claude-3.7、DeepSeek-V3、Gemini-2.5；无防护平均召回跨 41.6%–95.3%，模型能力差异明显。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防护结果：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应用 WebCloak 后多数后端降为 0%，DeepSeek-V3 因单个异常页面留下 2.9%；因此更准确的结论是跨后端保持零或近零，而非无条件全零。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运行环境：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对 UI+DOM 的 Browser-Use 进一步组合 Chrome、Firefox、Safari、Edge、Brave 与 macOS、Windows、Ubuntu，所有配置召回均为 0%。</a:t>
            </a:r>
          </a:p>
        </p:txBody>
      </p:sp>
      <p:pic>
        <p:nvPicPr>
          <p:cNvPr id="100226" name="PPW_VISUAL_S23" descr="Crawl4AI 使用四种 LLM 后端时五类网站的有无防护召回对比"/>
          <p:cNvPicPr>
            <a:picLocks noChangeAspect="1"/>
          </p:cNvPicPr>
          <p:nvPr/>
        </p:nvPicPr>
        <p:blipFill>
          <a:blip r:embed="Re0f9293efaf44349"/>
          <a:stretch>
            <a:fillRect/>
          </a:stretch>
        </p:blipFill>
        <p:spPr>
          <a:xfrm>
            <a:off x="2817125" y="4146655"/>
            <a:ext cx="6557749" cy="227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4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6FD2-825D-DF8F-3260-9149CB47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77" name="灯片编号占位符 56">
            <a:extLst>
              <a:ext uri="{FF2B5EF4-FFF2-40B4-BE49-F238E27FC236}">
                <a16:creationId xmlns:a16="http://schemas.microsoft.com/office/drawing/2014/main" id="{84C7AA80-A734-F77C-762A-1264A8F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22</a:t>
            </a:r>
          </a:p>
        </p:txBody>
      </p:sp>
      <p:sp>
        <p:nvSpPr>
          <p:cNvPr id="100078" name="矩形 4">
            <a:extLst>
              <a:ext uri="{FF2B5EF4-FFF2-40B4-BE49-F238E27FC236}">
                <a16:creationId xmlns:a16="http://schemas.microsoft.com/office/drawing/2014/main" id="{D6FE8AC4-FBB2-7B4B-AE08-3760F2DC885D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0079" name="图片 15" descr="模板装饰图形（不承载论文内容）">
            <a:extLst>
              <a:ext uri="{FF2B5EF4-FFF2-40B4-BE49-F238E27FC236}">
                <a16:creationId xmlns:a16="http://schemas.microsoft.com/office/drawing/2014/main" id="{02434977-B8FC-3C81-9C90-17275A1170D8}"/>
              </a:ext>
            </a:extLst>
          </p:cNvPr>
          <p:cNvPicPr>
            <a:picLocks noChangeAspect="1"/>
          </p:cNvPicPr>
          <p:nvPr/>
        </p:nvPicPr>
        <p:blipFill>
          <a:blip r:embed="R78493aad06ed46ff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080" name="矩形 16">
            <a:extLst>
              <a:ext uri="{FF2B5EF4-FFF2-40B4-BE49-F238E27FC236}">
                <a16:creationId xmlns:a16="http://schemas.microsoft.com/office/drawing/2014/main" id="{F867B96C-0ACA-E041-6A67-47BD83D8C500}"/>
              </a:ext>
            </a:extLst>
          </p:cNvPr>
          <p:cNvSpPr/>
          <p:nvPr/>
        </p:nvSpPr>
        <p:spPr>
          <a:xfrm>
            <a:off x="7639103" y="762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081" name="TextBox 6">
            <a:extLst>
              <a:ext uri="{FF2B5EF4-FFF2-40B4-BE49-F238E27FC236}">
                <a16:creationId xmlns:a16="http://schemas.microsoft.com/office/drawing/2014/main" id="{C69FB2B6-47F5-BAA5-DC9B-26714D9A12C5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082" name="TextBox 7">
            <a:extLst>
              <a:ext uri="{FF2B5EF4-FFF2-40B4-BE49-F238E27FC236}">
                <a16:creationId xmlns:a16="http://schemas.microsoft.com/office/drawing/2014/main" id="{C729982E-CE57-317B-FB68-34F9ACADDCF7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083" name="TextBox 9">
            <a:extLst>
              <a:ext uri="{FF2B5EF4-FFF2-40B4-BE49-F238E27FC236}">
                <a16:creationId xmlns:a16="http://schemas.microsoft.com/office/drawing/2014/main" id="{17E52703-6C44-9695-48CA-4A3CAF24DF40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084" name="TextBox 11">
            <a:extLst>
              <a:ext uri="{FF2B5EF4-FFF2-40B4-BE49-F238E27FC236}">
                <a16:creationId xmlns:a16="http://schemas.microsoft.com/office/drawing/2014/main" id="{7B5D4C98-24A2-336D-9072-A0CB8E9AD16D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sp>
        <p:nvSpPr>
          <p:cNvPr id="100085" name="矩形 3">
            <a:extLst>
              <a:ext uri="{FF2B5EF4-FFF2-40B4-BE49-F238E27FC236}">
                <a16:creationId xmlns:a16="http://schemas.microsoft.com/office/drawing/2014/main" id="{4D235838-5580-BA37-9B9C-151BE307A6ED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RQ1：音频与文本实验支持跨资产泛化</a:t>
            </a:r>
          </a:p>
        </p:txBody>
      </p:sp>
      <p:sp>
        <p:nvSpPr>
          <p:cNvPr id="100086" name="矩形 7">
            <a:extLst>
              <a:ext uri="{FF2B5EF4-FFF2-40B4-BE49-F238E27FC236}">
                <a16:creationId xmlns:a16="http://schemas.microsoft.com/office/drawing/2014/main" id="{2C0F7812-435E-7C84-7467-BCB8DE641BDA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补充数据：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按 Appendix C.4 另选 5 个免版税音乐页和 5 个新闻页，分别提取全部 mp3 URL 与命中特定关键词的文本片段；总规模仅 10 页。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保护结果：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无防护时音频和文本平均召回为 84.1% 与 60.4%；随机化 audio/span 等相关标签并加入上下文语义线索后，两类任务均降为 0%。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证据边界：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结果说明双层机制原则上不绑定 img 标签，但小规模、特定目标任务不能替代大规模多模态 benchmark；论文也把图像中心的外部效度列为局限。</a:t>
            </a:r>
          </a:p>
        </p:txBody>
      </p:sp>
      <p:pic>
        <p:nvPicPr>
          <p:cNvPr id="100225" name="PPW_VISUAL_S22" descr="音频和文本在三种 Agent 下有无 WebCloak 的召回与精度对比表"/>
          <p:cNvPicPr>
            <a:picLocks noChangeAspect="1"/>
          </p:cNvPicPr>
          <p:nvPr/>
        </p:nvPicPr>
        <p:blipFill>
          <a:blip r:embed="Rd854e33be99a4fa5"/>
          <a:stretch>
            <a:fillRect/>
          </a:stretch>
        </p:blipFill>
        <p:spPr>
          <a:xfrm>
            <a:off x="2817125" y="4205962"/>
            <a:ext cx="6557749" cy="215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4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6FD2-825D-DF8F-3260-9149CB47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88" name="灯片编号占位符 56">
            <a:extLst>
              <a:ext uri="{FF2B5EF4-FFF2-40B4-BE49-F238E27FC236}">
                <a16:creationId xmlns:a16="http://schemas.microsoft.com/office/drawing/2014/main" id="{84C7AA80-A734-F77C-762A-1264A8F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21</a:t>
            </a:r>
          </a:p>
        </p:txBody>
      </p:sp>
      <p:sp>
        <p:nvSpPr>
          <p:cNvPr id="100089" name="矩形 4">
            <a:extLst>
              <a:ext uri="{FF2B5EF4-FFF2-40B4-BE49-F238E27FC236}">
                <a16:creationId xmlns:a16="http://schemas.microsoft.com/office/drawing/2014/main" id="{D6FE8AC4-FBB2-7B4B-AE08-3760F2DC885D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0090" name="图片 15" descr="模板装饰图形（不承载论文内容）">
            <a:extLst>
              <a:ext uri="{FF2B5EF4-FFF2-40B4-BE49-F238E27FC236}">
                <a16:creationId xmlns:a16="http://schemas.microsoft.com/office/drawing/2014/main" id="{02434977-B8FC-3C81-9C90-17275A1170D8}"/>
              </a:ext>
            </a:extLst>
          </p:cNvPr>
          <p:cNvPicPr>
            <a:picLocks noChangeAspect="1"/>
          </p:cNvPicPr>
          <p:nvPr/>
        </p:nvPicPr>
        <p:blipFill>
          <a:blip r:embed="R3b8ae1e4f903420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091" name="矩形 16">
            <a:extLst>
              <a:ext uri="{FF2B5EF4-FFF2-40B4-BE49-F238E27FC236}">
                <a16:creationId xmlns:a16="http://schemas.microsoft.com/office/drawing/2014/main" id="{F867B96C-0ACA-E041-6A67-47BD83D8C500}"/>
              </a:ext>
            </a:extLst>
          </p:cNvPr>
          <p:cNvSpPr/>
          <p:nvPr/>
        </p:nvSpPr>
        <p:spPr>
          <a:xfrm>
            <a:off x="7639103" y="762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092" name="TextBox 6">
            <a:extLst>
              <a:ext uri="{FF2B5EF4-FFF2-40B4-BE49-F238E27FC236}">
                <a16:creationId xmlns:a16="http://schemas.microsoft.com/office/drawing/2014/main" id="{C69FB2B6-47F5-BAA5-DC9B-26714D9A12C5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093" name="TextBox 7">
            <a:extLst>
              <a:ext uri="{FF2B5EF4-FFF2-40B4-BE49-F238E27FC236}">
                <a16:creationId xmlns:a16="http://schemas.microsoft.com/office/drawing/2014/main" id="{C729982E-CE57-317B-FB68-34F9ACADDCF7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094" name="TextBox 9">
            <a:extLst>
              <a:ext uri="{FF2B5EF4-FFF2-40B4-BE49-F238E27FC236}">
                <a16:creationId xmlns:a16="http://schemas.microsoft.com/office/drawing/2014/main" id="{17E52703-6C44-9695-48CA-4A3CAF24DF40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095" name="TextBox 11">
            <a:extLst>
              <a:ext uri="{FF2B5EF4-FFF2-40B4-BE49-F238E27FC236}">
                <a16:creationId xmlns:a16="http://schemas.microsoft.com/office/drawing/2014/main" id="{7B5D4C98-24A2-336D-9072-A0CB8E9AD16D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sp>
        <p:nvSpPr>
          <p:cNvPr id="100096" name="矩形 3">
            <a:extLst>
              <a:ext uri="{FF2B5EF4-FFF2-40B4-BE49-F238E27FC236}">
                <a16:creationId xmlns:a16="http://schemas.microsoft.com/office/drawing/2014/main" id="{4D235838-5580-BA37-9B9C-151BE307A6ED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RQ1：改变抓取指令仍未绕过 WebCloak</a:t>
            </a:r>
          </a:p>
        </p:txBody>
      </p:sp>
      <p:sp>
        <p:nvSpPr>
          <p:cNvPr id="100097" name="矩形 7">
            <a:extLst>
              <a:ext uri="{FF2B5EF4-FFF2-40B4-BE49-F238E27FC236}">
                <a16:creationId xmlns:a16="http://schemas.microsoft.com/office/drawing/2014/main" id="{2C0F7812-435E-7C84-7467-BCB8DE641BDA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四类指令：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从提取全部图像，扩展到主产品图、五星菜谱等条件任务，以及明确要求忽略禁止性注释的对抗指令。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无防护差异：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任务粒度会显著改变原始召回与精度，例如定向和条件提取对部分工具更难，说明测试覆盖了不同解释要求。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防护结果：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三种 Agent、四类指令组合中，WebCloak 召回和精度均为 0%；简单改写目标或要求忽略警告仍不足以恢复提取。</a:t>
            </a:r>
          </a:p>
        </p:txBody>
      </p:sp>
      <p:pic>
        <p:nvPicPr>
          <p:cNvPr id="100224" name="PPW_VISUAL_S21" descr="三种 Agent 在默认、定向、条件和对抗指令下原始召回与 WebCloak 零召回对比表"/>
          <p:cNvPicPr>
            <a:picLocks noChangeAspect="1"/>
          </p:cNvPicPr>
          <p:nvPr/>
        </p:nvPicPr>
        <p:blipFill>
          <a:blip r:embed="R0f7cb52cda144c68"/>
          <a:stretch>
            <a:fillRect/>
          </a:stretch>
        </p:blipFill>
        <p:spPr>
          <a:xfrm>
            <a:off x="2861481" y="3934835"/>
            <a:ext cx="6469037" cy="26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4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6FD2-825D-DF8F-3260-9149CB47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99" name="灯片编号占位符 56">
            <a:extLst>
              <a:ext uri="{FF2B5EF4-FFF2-40B4-BE49-F238E27FC236}">
                <a16:creationId xmlns:a16="http://schemas.microsoft.com/office/drawing/2014/main" id="{84C7AA80-A734-F77C-762A-1264A8F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20</a:t>
            </a:r>
          </a:p>
        </p:txBody>
      </p:sp>
      <p:sp>
        <p:nvSpPr>
          <p:cNvPr id="100100" name="矩形 4">
            <a:extLst>
              <a:ext uri="{FF2B5EF4-FFF2-40B4-BE49-F238E27FC236}">
                <a16:creationId xmlns:a16="http://schemas.microsoft.com/office/drawing/2014/main" id="{D6FE8AC4-FBB2-7B4B-AE08-3760F2DC885D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0101" name="图片 15" descr="模板装饰图形（不承载论文内容）">
            <a:extLst>
              <a:ext uri="{FF2B5EF4-FFF2-40B4-BE49-F238E27FC236}">
                <a16:creationId xmlns:a16="http://schemas.microsoft.com/office/drawing/2014/main" id="{02434977-B8FC-3C81-9C90-17275A1170D8}"/>
              </a:ext>
            </a:extLst>
          </p:cNvPr>
          <p:cNvPicPr>
            <a:picLocks noChangeAspect="1"/>
          </p:cNvPicPr>
          <p:nvPr/>
        </p:nvPicPr>
        <p:blipFill>
          <a:blip r:embed="Rac35889f99cb40cb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102" name="矩形 16">
            <a:extLst>
              <a:ext uri="{FF2B5EF4-FFF2-40B4-BE49-F238E27FC236}">
                <a16:creationId xmlns:a16="http://schemas.microsoft.com/office/drawing/2014/main" id="{F867B96C-0ACA-E041-6A67-47BD83D8C500}"/>
              </a:ext>
            </a:extLst>
          </p:cNvPr>
          <p:cNvSpPr/>
          <p:nvPr/>
        </p:nvSpPr>
        <p:spPr>
          <a:xfrm>
            <a:off x="7639103" y="762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03" name="TextBox 6">
            <a:extLst>
              <a:ext uri="{FF2B5EF4-FFF2-40B4-BE49-F238E27FC236}">
                <a16:creationId xmlns:a16="http://schemas.microsoft.com/office/drawing/2014/main" id="{C69FB2B6-47F5-BAA5-DC9B-26714D9A12C5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104" name="TextBox 7">
            <a:extLst>
              <a:ext uri="{FF2B5EF4-FFF2-40B4-BE49-F238E27FC236}">
                <a16:creationId xmlns:a16="http://schemas.microsoft.com/office/drawing/2014/main" id="{C729982E-CE57-317B-FB68-34F9ACADDCF7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105" name="TextBox 9">
            <a:extLst>
              <a:ext uri="{FF2B5EF4-FFF2-40B4-BE49-F238E27FC236}">
                <a16:creationId xmlns:a16="http://schemas.microsoft.com/office/drawing/2014/main" id="{17E52703-6C44-9695-48CA-4A3CAF24DF40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106" name="TextBox 11">
            <a:extLst>
              <a:ext uri="{FF2B5EF4-FFF2-40B4-BE49-F238E27FC236}">
                <a16:creationId xmlns:a16="http://schemas.microsoft.com/office/drawing/2014/main" id="{7B5D4C98-24A2-336D-9072-A0CB8E9AD16D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sp>
        <p:nvSpPr>
          <p:cNvPr id="100107" name="矩形 3">
            <a:extLst>
              <a:ext uri="{FF2B5EF4-FFF2-40B4-BE49-F238E27FC236}">
                <a16:creationId xmlns:a16="http://schemas.microsoft.com/office/drawing/2014/main" id="{4D235838-5580-BA37-9B9C-151BE307A6ED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RQ1：双层防御在完整基准上把三类召回降为 0%</a:t>
            </a:r>
          </a:p>
        </p:txBody>
      </p:sp>
      <p:sp>
        <p:nvSpPr>
          <p:cNvPr id="100108" name="矩形 7">
            <a:extLst>
              <a:ext uri="{FF2B5EF4-FFF2-40B4-BE49-F238E27FC236}">
                <a16:creationId xmlns:a16="http://schemas.microsoft.com/office/drawing/2014/main" id="{2C0F7812-435E-7C84-7467-BCB8DE641BDA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完整基准：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Gemini、Crawl4AI、Browser-Use 原始图像召回为 57.5%、62.5%、54.4%，应用完整 WebCloak 后均为 0%。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高风险子集：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27 个基线最易被抓取页面上，三类 Agent 平均召回从 88.7% 降至 0%；摘要中的 headline 数字对应这一条件。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基线差异：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代码混淆和动态加载会在最终 DOM 被消解，静态标签可被适应，朴素警告仍被模型忽略；双层方案同时针对两阶段。</a:t>
            </a:r>
          </a:p>
        </p:txBody>
      </p:sp>
      <p:pic>
        <p:nvPicPr>
          <p:cNvPr id="100223" name="PPW_VISUAL_S20" descr="三种 Agent 在原始网页、四类基线和 WebCloak 下的召回率对比表"/>
          <p:cNvPicPr>
            <a:picLocks noChangeAspect="1"/>
          </p:cNvPicPr>
          <p:nvPr/>
        </p:nvPicPr>
        <p:blipFill>
          <a:blip r:embed="R07dc6f03c490492c"/>
          <a:stretch>
            <a:fillRect/>
          </a:stretch>
        </p:blipFill>
        <p:spPr>
          <a:xfrm>
            <a:off x="2861481" y="3934835"/>
            <a:ext cx="6469037" cy="26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4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10" name="矩形 4">
            <a:extLst>
              <a:ext uri="{FF2B5EF4-FFF2-40B4-BE49-F238E27FC236}">
                <a16:creationId xmlns:a16="http://schemas.microsoft.com/office/drawing/2014/main" id="{775CC573-189A-4E49-924C-2DC777AD8E17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11" name="TextBox 9">
            <a:extLst>
              <a:ext uri="{FF2B5EF4-FFF2-40B4-BE49-F238E27FC236}">
                <a16:creationId xmlns:a16="http://schemas.microsoft.com/office/drawing/2014/main" id="{24F86829-E13F-4B75-BE00-4B10A1F35ADC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112" name="TextBox 11">
            <a:extLst>
              <a:ext uri="{FF2B5EF4-FFF2-40B4-BE49-F238E27FC236}">
                <a16:creationId xmlns:a16="http://schemas.microsoft.com/office/drawing/2014/main" id="{B9F24EC9-000A-4403-9A8D-5437DFB45B31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pic>
        <p:nvPicPr>
          <p:cNvPr id="100113" name="图片 25" descr="模板装饰图形（不承载论文内容）">
            <a:extLst>
              <a:ext uri="{FF2B5EF4-FFF2-40B4-BE49-F238E27FC236}">
                <a16:creationId xmlns:a16="http://schemas.microsoft.com/office/drawing/2014/main" id="{C273FC7F-B9F5-46F2-AD02-F421E2048069}"/>
              </a:ext>
            </a:extLst>
          </p:cNvPr>
          <p:cNvPicPr>
            <a:picLocks noChangeAspect="1"/>
          </p:cNvPicPr>
          <p:nvPr/>
        </p:nvPicPr>
        <p:blipFill>
          <a:blip r:embed="R9a64bf95a2824c5e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114" name="矩形 87">
            <a:extLst>
              <a:ext uri="{FF2B5EF4-FFF2-40B4-BE49-F238E27FC236}">
                <a16:creationId xmlns:a16="http://schemas.microsoft.com/office/drawing/2014/main" id="{03292A43-D7B3-6868-E9D0-3D0DD481BD04}"/>
              </a:ext>
            </a:extLst>
          </p:cNvPr>
          <p:cNvSpPr/>
          <p:nvPr/>
        </p:nvSpPr>
        <p:spPr>
          <a:xfrm>
            <a:off x="5373338" y="-4281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15" name="TextBox 7">
            <a:extLst>
              <a:ext uri="{FF2B5EF4-FFF2-40B4-BE49-F238E27FC236}">
                <a16:creationId xmlns:a16="http://schemas.microsoft.com/office/drawing/2014/main" id="{ADD74DCB-40C1-A872-7279-3FEB9293BC3C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116" name="TextBox 6">
            <a:extLst>
              <a:ext uri="{FF2B5EF4-FFF2-40B4-BE49-F238E27FC236}">
                <a16:creationId xmlns:a16="http://schemas.microsoft.com/office/drawing/2014/main" id="{F2C8075F-4F8E-B003-6D00-33F0ADD4A752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117" name="灯片编号占位符 3">
            <a:extLst>
              <a:ext uri="{FF2B5EF4-FFF2-40B4-BE49-F238E27FC236}">
                <a16:creationId xmlns:a16="http://schemas.microsoft.com/office/drawing/2014/main" id="{CB4686A0-DF7A-9EE9-7917-0B6CD7CE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t>17</a:t>
            </a:r>
          </a:p>
        </p:txBody>
      </p:sp>
      <p:sp>
        <p:nvSpPr>
          <p:cNvPr id="100118" name="矩形 4">
            <a:extLst>
              <a:ext uri="{FF2B5EF4-FFF2-40B4-BE49-F238E27FC236}">
                <a16:creationId xmlns:a16="http://schemas.microsoft.com/office/drawing/2014/main" id="{6F6710B2-22DB-714E-BBB1-003152E8ECA5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两层协同把单点绕过变成连续两次失败</a:t>
            </a:r>
          </a:p>
        </p:txBody>
      </p:sp>
      <p:sp>
        <p:nvSpPr>
          <p:cNvPr id="100119" name="矩形 6">
            <a:extLst>
              <a:ext uri="{FF2B5EF4-FFF2-40B4-BE49-F238E27FC236}">
                <a16:creationId xmlns:a16="http://schemas.microsoft.com/office/drawing/2014/main" id="{FF10343B-08AE-8A7F-3483-A99CE6AF25E6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第一道屏障：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动态结构层先让依赖标准 DOM 的解析器难以稳定定位目标，直接过滤较弱工具，并迫使更强攻击者承担结构恢复成本。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第二道屏障：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语义层针对仍能进入 LLM 的残余上下文，使解释与提取偏离真实资产；两层面对的是不同失败点，不能互相替代。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执行顺序：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先基于原始 HTML 生成上下文相关陷阱，再对页面和陷阱统一随机化；若顺序颠倒，语义优化将失去可用页面上下文。</a:t>
            </a:r>
          </a:p>
        </p:txBody>
      </p:sp>
      <p:pic>
        <p:nvPicPr>
          <p:cNvPr id="100221" name="PPW_VISUAL_S17" descr="结构混淆与语义迷宫并行作用后合并为完整的受保护网页"/>
          <p:cNvPicPr>
            <a:picLocks noChangeAspect="1"/>
          </p:cNvPicPr>
          <p:nvPr/>
        </p:nvPicPr>
        <p:blipFill>
          <a:blip r:embed="R38581f07f6274305"/>
          <a:stretch>
            <a:fillRect/>
          </a:stretch>
        </p:blipFill>
        <p:spPr>
          <a:xfrm>
            <a:off x="2817125" y="4108587"/>
            <a:ext cx="6557749" cy="234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29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21" name="矩形 4">
            <a:extLst>
              <a:ext uri="{FF2B5EF4-FFF2-40B4-BE49-F238E27FC236}">
                <a16:creationId xmlns:a16="http://schemas.microsoft.com/office/drawing/2014/main" id="{775CC573-189A-4E49-924C-2DC777AD8E17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22" name="TextBox 9">
            <a:extLst>
              <a:ext uri="{FF2B5EF4-FFF2-40B4-BE49-F238E27FC236}">
                <a16:creationId xmlns:a16="http://schemas.microsoft.com/office/drawing/2014/main" id="{24F86829-E13F-4B75-BE00-4B10A1F35ADC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123" name="TextBox 11">
            <a:extLst>
              <a:ext uri="{FF2B5EF4-FFF2-40B4-BE49-F238E27FC236}">
                <a16:creationId xmlns:a16="http://schemas.microsoft.com/office/drawing/2014/main" id="{B9F24EC9-000A-4403-9A8D-5437DFB45B31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pic>
        <p:nvPicPr>
          <p:cNvPr id="100124" name="图片 25" descr="模板装饰图形（不承载论文内容）">
            <a:extLst>
              <a:ext uri="{FF2B5EF4-FFF2-40B4-BE49-F238E27FC236}">
                <a16:creationId xmlns:a16="http://schemas.microsoft.com/office/drawing/2014/main" id="{C273FC7F-B9F5-46F2-AD02-F421E2048069}"/>
              </a:ext>
            </a:extLst>
          </p:cNvPr>
          <p:cNvPicPr>
            <a:picLocks noChangeAspect="1"/>
          </p:cNvPicPr>
          <p:nvPr/>
        </p:nvPicPr>
        <p:blipFill>
          <a:blip r:embed="R3a71e6b39ebc462d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125" name="矩形 87">
            <a:extLst>
              <a:ext uri="{FF2B5EF4-FFF2-40B4-BE49-F238E27FC236}">
                <a16:creationId xmlns:a16="http://schemas.microsoft.com/office/drawing/2014/main" id="{03292A43-D7B3-6868-E9D0-3D0DD481BD04}"/>
              </a:ext>
            </a:extLst>
          </p:cNvPr>
          <p:cNvSpPr/>
          <p:nvPr/>
        </p:nvSpPr>
        <p:spPr>
          <a:xfrm>
            <a:off x="5373338" y="-4281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26" name="TextBox 7">
            <a:extLst>
              <a:ext uri="{FF2B5EF4-FFF2-40B4-BE49-F238E27FC236}">
                <a16:creationId xmlns:a16="http://schemas.microsoft.com/office/drawing/2014/main" id="{ADD74DCB-40C1-A872-7279-3FEB9293BC3C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127" name="TextBox 6">
            <a:extLst>
              <a:ext uri="{FF2B5EF4-FFF2-40B4-BE49-F238E27FC236}">
                <a16:creationId xmlns:a16="http://schemas.microsoft.com/office/drawing/2014/main" id="{F2C8075F-4F8E-B003-6D00-33F0ADD4A752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128" name="灯片编号占位符 3">
            <a:extLst>
              <a:ext uri="{FF2B5EF4-FFF2-40B4-BE49-F238E27FC236}">
                <a16:creationId xmlns:a16="http://schemas.microsoft.com/office/drawing/2014/main" id="{CB4686A0-DF7A-9EE9-7917-0B6CD7CE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t>16</a:t>
            </a:r>
          </a:p>
        </p:txBody>
      </p:sp>
      <p:sp>
        <p:nvSpPr>
          <p:cNvPr id="100129" name="矩形 4">
            <a:extLst>
              <a:ext uri="{FF2B5EF4-FFF2-40B4-BE49-F238E27FC236}">
                <a16:creationId xmlns:a16="http://schemas.microsoft.com/office/drawing/2014/main" id="{6F6710B2-22DB-714E-BBB1-003152E8ECA5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攻防 LLM 迭代筛选可迁移的防御模板</a:t>
            </a:r>
          </a:p>
        </p:txBody>
      </p:sp>
      <p:sp>
        <p:nvSpPr>
          <p:cNvPr id="100130" name="矩形 6">
            <a:extLst>
              <a:ext uri="{FF2B5EF4-FFF2-40B4-BE49-F238E27FC236}">
                <a16:creationId xmlns:a16="http://schemas.microsoft.com/office/drawing/2014/main" id="{FF10343B-08AE-8A7F-3483-A99CE6AF25E6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初始化：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防守 LLM 针对误导、安全对齐和注意力转移三类主题，为少量模板图像分别生成前、中、后三段上下文相关文本。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攻防评估：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候选文本被注入最小 HTML、模拟 Agent 简化，再交给攻击 LLM 执行提取；以保护率选择 top-k 策略并继续交叉细化。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模板迁移：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达到深度或完美阻断条件后选出最佳模板，再由防守 LLM 结合其他图像上下文改写，避免逐个从零搜索全部提示。</a:t>
            </a:r>
          </a:p>
        </p:txBody>
      </p:sp>
      <p:pic>
        <p:nvPicPr>
          <p:cNvPr id="100220" name="PPW_VISUAL_S16" descr="WebCloak 在目标图像前后布置经攻防迭代筛选的上下文提示"/>
          <p:cNvPicPr>
            <a:picLocks noChangeAspect="1"/>
          </p:cNvPicPr>
          <p:nvPr/>
        </p:nvPicPr>
        <p:blipFill>
          <a:blip r:embed="R3fd1f001ded247e8"/>
          <a:stretch>
            <a:fillRect/>
          </a:stretch>
        </p:blipFill>
        <p:spPr>
          <a:xfrm>
            <a:off x="4503244" y="3934835"/>
            <a:ext cx="3185511" cy="26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29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32" name="矩形 4">
            <a:extLst>
              <a:ext uri="{FF2B5EF4-FFF2-40B4-BE49-F238E27FC236}">
                <a16:creationId xmlns:a16="http://schemas.microsoft.com/office/drawing/2014/main" id="{775CC573-189A-4E49-924C-2DC777AD8E17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33" name="TextBox 9">
            <a:extLst>
              <a:ext uri="{FF2B5EF4-FFF2-40B4-BE49-F238E27FC236}">
                <a16:creationId xmlns:a16="http://schemas.microsoft.com/office/drawing/2014/main" id="{24F86829-E13F-4B75-BE00-4B10A1F35ADC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134" name="TextBox 11">
            <a:extLst>
              <a:ext uri="{FF2B5EF4-FFF2-40B4-BE49-F238E27FC236}">
                <a16:creationId xmlns:a16="http://schemas.microsoft.com/office/drawing/2014/main" id="{B9F24EC9-000A-4403-9A8D-5437DFB45B31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pic>
        <p:nvPicPr>
          <p:cNvPr id="100135" name="图片 25" descr="模板装饰图形（不承载论文内容）">
            <a:extLst>
              <a:ext uri="{FF2B5EF4-FFF2-40B4-BE49-F238E27FC236}">
                <a16:creationId xmlns:a16="http://schemas.microsoft.com/office/drawing/2014/main" id="{C273FC7F-B9F5-46F2-AD02-F421E2048069}"/>
              </a:ext>
            </a:extLst>
          </p:cNvPr>
          <p:cNvPicPr>
            <a:picLocks noChangeAspect="1"/>
          </p:cNvPicPr>
          <p:nvPr/>
        </p:nvPicPr>
        <p:blipFill>
          <a:blip r:embed="R267d4ce76df54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136" name="矩形 87">
            <a:extLst>
              <a:ext uri="{FF2B5EF4-FFF2-40B4-BE49-F238E27FC236}">
                <a16:creationId xmlns:a16="http://schemas.microsoft.com/office/drawing/2014/main" id="{03292A43-D7B3-6868-E9D0-3D0DD481BD04}"/>
              </a:ext>
            </a:extLst>
          </p:cNvPr>
          <p:cNvSpPr/>
          <p:nvPr/>
        </p:nvSpPr>
        <p:spPr>
          <a:xfrm>
            <a:off x="5373338" y="-4281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37" name="TextBox 7">
            <a:extLst>
              <a:ext uri="{FF2B5EF4-FFF2-40B4-BE49-F238E27FC236}">
                <a16:creationId xmlns:a16="http://schemas.microsoft.com/office/drawing/2014/main" id="{ADD74DCB-40C1-A872-7279-3FEB9293BC3C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138" name="TextBox 6">
            <a:extLst>
              <a:ext uri="{FF2B5EF4-FFF2-40B4-BE49-F238E27FC236}">
                <a16:creationId xmlns:a16="http://schemas.microsoft.com/office/drawing/2014/main" id="{F2C8075F-4F8E-B003-6D00-33F0ADD4A752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139" name="灯片编号占位符 3">
            <a:extLst>
              <a:ext uri="{FF2B5EF4-FFF2-40B4-BE49-F238E27FC236}">
                <a16:creationId xmlns:a16="http://schemas.microsoft.com/office/drawing/2014/main" id="{CB4686A0-DF7A-9EE9-7917-0B6CD7CE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t>15</a:t>
            </a:r>
          </a:p>
        </p:txBody>
      </p:sp>
      <p:sp>
        <p:nvSpPr>
          <p:cNvPr id="100140" name="矩形 4">
            <a:extLst>
              <a:ext uri="{FF2B5EF4-FFF2-40B4-BE49-F238E27FC236}">
                <a16:creationId xmlns:a16="http://schemas.microsoft.com/office/drawing/2014/main" id="{6F6710B2-22DB-714E-BBB1-003152E8ECA5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Part 2 在目标元素周围布置语义迷宫</a:t>
            </a:r>
          </a:p>
        </p:txBody>
      </p:sp>
      <p:sp>
        <p:nvSpPr>
          <p:cNvPr id="100141" name="矩形 6">
            <a:extLst>
              <a:ext uri="{FF2B5EF4-FFF2-40B4-BE49-F238E27FC236}">
                <a16:creationId xmlns:a16="http://schemas.microsoft.com/office/drawing/2014/main" id="{FF10343B-08AE-8A7F-3483-A99CE6AF25E6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三个注入位置：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对每个 img 在前置隐藏元素、alt 属性和后置隐藏元素写入线索；标签与隐藏样式也随机选择，降低规则过滤稳定性。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三类干扰策略：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误导资产状态、触发模型的安全与政策对齐、提供错误查找键或诱饵 URL，使真实提取指令失去注意力优势。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穿过简化阶段：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提示不是只对完整 DOM 有效，还被设计为在 HTML 转 Markdown、元素裁剪等预处理后继续进入 LLM 的简化上下文。</a:t>
            </a:r>
          </a:p>
        </p:txBody>
      </p:sp>
      <p:pic>
        <p:nvPicPr>
          <p:cNvPr id="100219" name="PPW_VISUAL_S15" descr="目标图像前置隐藏元素、alt 属性和后置隐藏元素三处语义注入点"/>
          <p:cNvPicPr>
            <a:picLocks noChangeAspect="1"/>
          </p:cNvPicPr>
          <p:nvPr/>
        </p:nvPicPr>
        <p:blipFill>
          <a:blip r:embed="Re7f3970129b7453a"/>
          <a:stretch>
            <a:fillRect/>
          </a:stretch>
        </p:blipFill>
        <p:spPr>
          <a:xfrm>
            <a:off x="2817125" y="4557136"/>
            <a:ext cx="6557749" cy="145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29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7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3" name="矩形 4">
            <a:extLst>
              <a:ext uri="{FF2B5EF4-FFF2-40B4-BE49-F238E27FC236}">
                <a16:creationId xmlns:a16="http://schemas.microsoft.com/office/drawing/2014/main" id="{775CC573-189A-4E49-924C-2DC777AD8E17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44" name="TextBox 9">
            <a:extLst>
              <a:ext uri="{FF2B5EF4-FFF2-40B4-BE49-F238E27FC236}">
                <a16:creationId xmlns:a16="http://schemas.microsoft.com/office/drawing/2014/main" id="{24F86829-E13F-4B75-BE00-4B10A1F35ADC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145" name="TextBox 11">
            <a:extLst>
              <a:ext uri="{FF2B5EF4-FFF2-40B4-BE49-F238E27FC236}">
                <a16:creationId xmlns:a16="http://schemas.microsoft.com/office/drawing/2014/main" id="{B9F24EC9-000A-4403-9A8D-5437DFB45B31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pic>
        <p:nvPicPr>
          <p:cNvPr id="100146" name="图片 25" descr="模板装饰图形（不承载论文内容）">
            <a:extLst>
              <a:ext uri="{FF2B5EF4-FFF2-40B4-BE49-F238E27FC236}">
                <a16:creationId xmlns:a16="http://schemas.microsoft.com/office/drawing/2014/main" id="{C273FC7F-B9F5-46F2-AD02-F421E2048069}"/>
              </a:ext>
            </a:extLst>
          </p:cNvPr>
          <p:cNvPicPr>
            <a:picLocks noChangeAspect="1"/>
          </p:cNvPicPr>
          <p:nvPr/>
        </p:nvPicPr>
        <p:blipFill>
          <a:blip r:embed="Rdc0e3bf50761417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147" name="矩形 87">
            <a:extLst>
              <a:ext uri="{FF2B5EF4-FFF2-40B4-BE49-F238E27FC236}">
                <a16:creationId xmlns:a16="http://schemas.microsoft.com/office/drawing/2014/main" id="{03292A43-D7B3-6868-E9D0-3D0DD481BD04}"/>
              </a:ext>
            </a:extLst>
          </p:cNvPr>
          <p:cNvSpPr/>
          <p:nvPr/>
        </p:nvSpPr>
        <p:spPr>
          <a:xfrm>
            <a:off x="5373338" y="-4281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48" name="TextBox 7">
            <a:extLst>
              <a:ext uri="{FF2B5EF4-FFF2-40B4-BE49-F238E27FC236}">
                <a16:creationId xmlns:a16="http://schemas.microsoft.com/office/drawing/2014/main" id="{ADD74DCB-40C1-A872-7279-3FEB9293BC3C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149" name="TextBox 6">
            <a:extLst>
              <a:ext uri="{FF2B5EF4-FFF2-40B4-BE49-F238E27FC236}">
                <a16:creationId xmlns:a16="http://schemas.microsoft.com/office/drawing/2014/main" id="{F2C8075F-4F8E-B003-6D00-33F0ADD4A752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150" name="灯片编号占位符 3">
            <a:extLst>
              <a:ext uri="{FF2B5EF4-FFF2-40B4-BE49-F238E27FC236}">
                <a16:creationId xmlns:a16="http://schemas.microsoft.com/office/drawing/2014/main" id="{CB4686A0-DF7A-9EE9-7917-0B6CD7CE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t>14</a:t>
            </a:r>
          </a:p>
        </p:txBody>
      </p:sp>
      <p:sp>
        <p:nvSpPr>
          <p:cNvPr id="100151" name="矩形 4">
            <a:extLst>
              <a:ext uri="{FF2B5EF4-FFF2-40B4-BE49-F238E27FC236}">
                <a16:creationId xmlns:a16="http://schemas.microsoft.com/office/drawing/2014/main" id="{6F6710B2-22DB-714E-BBB1-003152E8ECA5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客户端恢复让人看到内容、让自动化看不到线索</a:t>
            </a:r>
          </a:p>
        </p:txBody>
      </p:sp>
      <p:sp>
        <p:nvSpPr>
          <p:cNvPr id="100152" name="矩形 6">
            <a:extLst>
              <a:ext uri="{FF2B5EF4-FFF2-40B4-BE49-F238E27FC236}">
                <a16:creationId xmlns:a16="http://schemas.microsoft.com/office/drawing/2014/main" id="{FF10343B-08AE-8A7F-3483-A99CE6AF25E6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独立恢复脚本：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轻量 JavaScript 在 DOM 加载后遍历随机属性元素，解码真实资源并恢复页面，不在 HTML 中留下明确恢复提示。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降低自动化可见性：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随机属性继续保留，真实 URL 可写入 Shadow DOM，并以 CSS background 等非传统方式呈现，减少 DOM 工具直接读取机会。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透明性的代价：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合法用户最终看到与原页面一致的内容，但机制依赖 JavaScript；这也是论文明确承认的运行假设与适用边界。</a:t>
            </a:r>
          </a:p>
        </p:txBody>
      </p:sp>
      <p:pic>
        <p:nvPicPr>
          <p:cNvPr id="100218" name="PPW_VISUAL_S14" descr="动态结构混淆生成 WebCloak 页面，并由用户侧解混淆器在加载后恢复视觉内容"/>
          <p:cNvPicPr>
            <a:picLocks noChangeAspect="1"/>
          </p:cNvPicPr>
          <p:nvPr/>
        </p:nvPicPr>
        <p:blipFill>
          <a:blip r:embed="Rf7295cbc9dcc4c97"/>
          <a:stretch>
            <a:fillRect/>
          </a:stretch>
        </p:blipFill>
        <p:spPr>
          <a:xfrm>
            <a:off x="4032389" y="3934835"/>
            <a:ext cx="4127221" cy="26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29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8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54" name="矩形 4">
            <a:extLst>
              <a:ext uri="{FF2B5EF4-FFF2-40B4-BE49-F238E27FC236}">
                <a16:creationId xmlns:a16="http://schemas.microsoft.com/office/drawing/2014/main" id="{775CC573-189A-4E49-924C-2DC777AD8E17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55" name="TextBox 9">
            <a:extLst>
              <a:ext uri="{FF2B5EF4-FFF2-40B4-BE49-F238E27FC236}">
                <a16:creationId xmlns:a16="http://schemas.microsoft.com/office/drawing/2014/main" id="{24F86829-E13F-4B75-BE00-4B10A1F35ADC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156" name="TextBox 11">
            <a:extLst>
              <a:ext uri="{FF2B5EF4-FFF2-40B4-BE49-F238E27FC236}">
                <a16:creationId xmlns:a16="http://schemas.microsoft.com/office/drawing/2014/main" id="{B9F24EC9-000A-4403-9A8D-5437DFB45B31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pic>
        <p:nvPicPr>
          <p:cNvPr id="100157" name="图片 25" descr="模板装饰图形（不承载论文内容）">
            <a:extLst>
              <a:ext uri="{FF2B5EF4-FFF2-40B4-BE49-F238E27FC236}">
                <a16:creationId xmlns:a16="http://schemas.microsoft.com/office/drawing/2014/main" id="{C273FC7F-B9F5-46F2-AD02-F421E2048069}"/>
              </a:ext>
            </a:extLst>
          </p:cNvPr>
          <p:cNvPicPr>
            <a:picLocks noChangeAspect="1"/>
          </p:cNvPicPr>
          <p:nvPr/>
        </p:nvPicPr>
        <p:blipFill>
          <a:blip r:embed="R09c7dcbdbe9f42ad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158" name="矩形 87">
            <a:extLst>
              <a:ext uri="{FF2B5EF4-FFF2-40B4-BE49-F238E27FC236}">
                <a16:creationId xmlns:a16="http://schemas.microsoft.com/office/drawing/2014/main" id="{03292A43-D7B3-6868-E9D0-3D0DD481BD04}"/>
              </a:ext>
            </a:extLst>
          </p:cNvPr>
          <p:cNvSpPr/>
          <p:nvPr/>
        </p:nvSpPr>
        <p:spPr>
          <a:xfrm>
            <a:off x="5373338" y="-4281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59" name="TextBox 7">
            <a:extLst>
              <a:ext uri="{FF2B5EF4-FFF2-40B4-BE49-F238E27FC236}">
                <a16:creationId xmlns:a16="http://schemas.microsoft.com/office/drawing/2014/main" id="{ADD74DCB-40C1-A872-7279-3FEB9293BC3C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160" name="TextBox 6">
            <a:extLst>
              <a:ext uri="{FF2B5EF4-FFF2-40B4-BE49-F238E27FC236}">
                <a16:creationId xmlns:a16="http://schemas.microsoft.com/office/drawing/2014/main" id="{F2C8075F-4F8E-B003-6D00-33F0ADD4A752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161" name="灯片编号占位符 3">
            <a:extLst>
              <a:ext uri="{FF2B5EF4-FFF2-40B4-BE49-F238E27FC236}">
                <a16:creationId xmlns:a16="http://schemas.microsoft.com/office/drawing/2014/main" id="{CB4686A0-DF7A-9EE9-7917-0B6CD7CE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t>13</a:t>
            </a:r>
          </a:p>
        </p:txBody>
      </p:sp>
      <p:sp>
        <p:nvSpPr>
          <p:cNvPr id="100162" name="矩形 4">
            <a:extLst>
              <a:ext uri="{FF2B5EF4-FFF2-40B4-BE49-F238E27FC236}">
                <a16:creationId xmlns:a16="http://schemas.microsoft.com/office/drawing/2014/main" id="{6F6710B2-22DB-714E-BBB1-003152E8ECA5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Part 1 用每会话多态结构打破固定 DOM 模式</a:t>
            </a:r>
          </a:p>
        </p:txBody>
      </p:sp>
      <p:sp>
        <p:nvSpPr>
          <p:cNvPr id="100163" name="矩形 6">
            <a:extLst>
              <a:ext uri="{FF2B5EF4-FFF2-40B4-BE49-F238E27FC236}">
                <a16:creationId xmlns:a16="http://schemas.microsoft.com/office/drawing/2014/main" id="{FF10343B-08AE-8A7F-3483-A99CE6AF25E6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输入规范化：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先把非标准数据源等属性统一为内部表达，再对目标图像执行主要变换，避免兼容性差异干扰后续随机化过程。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多态转换：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CSPRNG 为每次会话生成无意义标签和属性名，真实 URL 被编码，img 可变为 div；固定名称不再能跨页面或会话复用。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诱饵与保留：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标准 src 可指向蜜罐资源，其他 class 与 style 按需保留，使爬虫既难定位真实资产，又可能把错误目标当作结果。</a:t>
            </a:r>
          </a:p>
        </p:txBody>
      </p:sp>
      <p:pic>
        <p:nvPicPr>
          <p:cNvPr id="100217" name="PPW_VISUAL_S13" descr="标准 img 元素经过 CSPRNG 随机属性、URL 混淆和诱饵后变为 WebCloak 非标准结构"/>
          <p:cNvPicPr>
            <a:picLocks noChangeAspect="1"/>
          </p:cNvPicPr>
          <p:nvPr/>
        </p:nvPicPr>
        <p:blipFill>
          <a:blip r:embed="R403d5bce34a34f0a"/>
          <a:stretch>
            <a:fillRect/>
          </a:stretch>
        </p:blipFill>
        <p:spPr>
          <a:xfrm>
            <a:off x="2968063" y="3934835"/>
            <a:ext cx="6255874" cy="26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29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9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18F14-92E8-0705-AB5A-678146A26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65" name="矩形 45">
            <a:extLst>
              <a:ext uri="{FF2B5EF4-FFF2-40B4-BE49-F238E27FC236}">
                <a16:creationId xmlns:a16="http://schemas.microsoft.com/office/drawing/2014/main" id="{C2E714AB-31D3-6295-4BDB-BCD35AC2CAC9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Parse-then-Interpret 是共同机制也是共同弱点</a:t>
            </a:r>
          </a:p>
        </p:txBody>
      </p:sp>
      <p:sp>
        <p:nvSpPr>
          <p:cNvPr id="100166" name="矩形 4">
            <a:extLst>
              <a:ext uri="{FF2B5EF4-FFF2-40B4-BE49-F238E27FC236}">
                <a16:creationId xmlns:a16="http://schemas.microsoft.com/office/drawing/2014/main" id="{089A9397-C32C-F063-4D7A-04C7F347F201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67" name="矩形 20">
            <a:extLst>
              <a:ext uri="{FF2B5EF4-FFF2-40B4-BE49-F238E27FC236}">
                <a16:creationId xmlns:a16="http://schemas.microsoft.com/office/drawing/2014/main" id="{D38525DE-392F-D024-AAAB-323BFCD6AA12}"/>
              </a:ext>
            </a:extLst>
          </p:cNvPr>
          <p:cNvSpPr/>
          <p:nvPr/>
        </p:nvSpPr>
        <p:spPr>
          <a:xfrm>
            <a:off x="3231850" y="0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68" name="TextBox 6">
            <a:extLst>
              <a:ext uri="{FF2B5EF4-FFF2-40B4-BE49-F238E27FC236}">
                <a16:creationId xmlns:a16="http://schemas.microsoft.com/office/drawing/2014/main" id="{B6D9E27E-BE27-4E78-5242-9E9718E74D85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169" name="TextBox 7">
            <a:extLst>
              <a:ext uri="{FF2B5EF4-FFF2-40B4-BE49-F238E27FC236}">
                <a16:creationId xmlns:a16="http://schemas.microsoft.com/office/drawing/2014/main" id="{1972327E-4B32-ED59-6815-280B46C0D2C0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170" name="TextBox 9">
            <a:extLst>
              <a:ext uri="{FF2B5EF4-FFF2-40B4-BE49-F238E27FC236}">
                <a16:creationId xmlns:a16="http://schemas.microsoft.com/office/drawing/2014/main" id="{EEC9DD3A-51C3-52A0-F8D5-4B40EA8DEC93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171" name="TextBox 11">
            <a:extLst>
              <a:ext uri="{FF2B5EF4-FFF2-40B4-BE49-F238E27FC236}">
                <a16:creationId xmlns:a16="http://schemas.microsoft.com/office/drawing/2014/main" id="{92D79763-2B2D-931C-558B-C312955F8021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pic>
        <p:nvPicPr>
          <p:cNvPr id="100172" name="图片 25" descr="模板装饰图形（不承载论文内容）">
            <a:extLst>
              <a:ext uri="{FF2B5EF4-FFF2-40B4-BE49-F238E27FC236}">
                <a16:creationId xmlns:a16="http://schemas.microsoft.com/office/drawing/2014/main" id="{E2B2AFBD-1D1F-AE8A-B1FC-4B9BE0911F1B}"/>
              </a:ext>
            </a:extLst>
          </p:cNvPr>
          <p:cNvPicPr>
            <a:picLocks noChangeAspect="1"/>
          </p:cNvPicPr>
          <p:nvPr/>
        </p:nvPicPr>
        <p:blipFill>
          <a:blip r:embed="R346cb11df1fe4fad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173" name="矩形 1">
            <a:extLst>
              <a:ext uri="{FF2B5EF4-FFF2-40B4-BE49-F238E27FC236}">
                <a16:creationId xmlns:a16="http://schemas.microsoft.com/office/drawing/2014/main" id="{F079DF2D-7727-F948-B674-9667E869FA14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上下文压力：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网页平均约 332k tokens，常超过模型窗口；LNC/LWA 先用 DOM 规则、Markdown 或可访问性树压缩到约 1k tokens。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两阶段依赖：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解析阶段默认标准标签与属性可定位内容，解释阶段再根据上下文和攻击指令筛选目标；L2S 则生成依赖常见网页模式的解析脚本。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防御切入点：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让页面视觉保持不变却不再符合机器熟悉的结构，能够先减少进入 LLM 的有效信息；残余内容再由语义干扰处理。</a:t>
            </a:r>
          </a:p>
        </p:txBody>
      </p:sp>
      <p:sp>
        <p:nvSpPr>
          <p:cNvPr id="100174" name="灯片编号占位符 3">
            <a:extLst>
              <a:ext uri="{FF2B5EF4-FFF2-40B4-BE49-F238E27FC236}">
                <a16:creationId xmlns:a16="http://schemas.microsoft.com/office/drawing/2014/main" id="{AA928ED1-6272-9964-6FBC-E4110E5C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t>10</a:t>
            </a:r>
          </a:p>
        </p:txBody>
      </p:sp>
      <p:pic>
        <p:nvPicPr>
          <p:cNvPr id="100215" name="PPW_VISUAL_S10" descr="密集网页先被 Agent 解析为简化内容，再由 LLM 在攻击提示下解释并提取目标"/>
          <p:cNvPicPr>
            <a:picLocks noChangeAspect="1"/>
          </p:cNvPicPr>
          <p:nvPr/>
        </p:nvPicPr>
        <p:blipFill>
          <a:blip r:embed="R5643c5d4f7434853"/>
          <a:stretch>
            <a:fillRect/>
          </a:stretch>
        </p:blipFill>
        <p:spPr>
          <a:xfrm>
            <a:off x="2817125" y="4180375"/>
            <a:ext cx="6557749" cy="220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8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0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18F14-92E8-0705-AB5A-678146A26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76" name="矩形 45">
            <a:extLst>
              <a:ext uri="{FF2B5EF4-FFF2-40B4-BE49-F238E27FC236}">
                <a16:creationId xmlns:a16="http://schemas.microsoft.com/office/drawing/2014/main" id="{C2E714AB-31D3-6295-4BDB-BCD35AC2CAC9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32 个变体证明智能抓取已具备现实可行性</a:t>
            </a:r>
          </a:p>
        </p:txBody>
      </p:sp>
      <p:sp>
        <p:nvSpPr>
          <p:cNvPr id="100177" name="矩形 4">
            <a:extLst>
              <a:ext uri="{FF2B5EF4-FFF2-40B4-BE49-F238E27FC236}">
                <a16:creationId xmlns:a16="http://schemas.microsoft.com/office/drawing/2014/main" id="{089A9397-C32C-F063-4D7A-04C7F347F201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78" name="矩形 20">
            <a:extLst>
              <a:ext uri="{FF2B5EF4-FFF2-40B4-BE49-F238E27FC236}">
                <a16:creationId xmlns:a16="http://schemas.microsoft.com/office/drawing/2014/main" id="{D38525DE-392F-D024-AAAB-323BFCD6AA12}"/>
              </a:ext>
            </a:extLst>
          </p:cNvPr>
          <p:cNvSpPr/>
          <p:nvPr/>
        </p:nvSpPr>
        <p:spPr>
          <a:xfrm>
            <a:off x="3231850" y="0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79" name="TextBox 6">
            <a:extLst>
              <a:ext uri="{FF2B5EF4-FFF2-40B4-BE49-F238E27FC236}">
                <a16:creationId xmlns:a16="http://schemas.microsoft.com/office/drawing/2014/main" id="{B6D9E27E-BE27-4E78-5242-9E9718E74D85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180" name="TextBox 7">
            <a:extLst>
              <a:ext uri="{FF2B5EF4-FFF2-40B4-BE49-F238E27FC236}">
                <a16:creationId xmlns:a16="http://schemas.microsoft.com/office/drawing/2014/main" id="{1972327E-4B32-ED59-6815-280B46C0D2C0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181" name="TextBox 9">
            <a:extLst>
              <a:ext uri="{FF2B5EF4-FFF2-40B4-BE49-F238E27FC236}">
                <a16:creationId xmlns:a16="http://schemas.microsoft.com/office/drawing/2014/main" id="{EEC9DD3A-51C3-52A0-F8D5-4B40EA8DEC93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182" name="TextBox 11">
            <a:extLst>
              <a:ext uri="{FF2B5EF4-FFF2-40B4-BE49-F238E27FC236}">
                <a16:creationId xmlns:a16="http://schemas.microsoft.com/office/drawing/2014/main" id="{92D79763-2B2D-931C-558B-C312955F8021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pic>
        <p:nvPicPr>
          <p:cNvPr id="100183" name="图片 25" descr="模板装饰图形（不承载论文内容）">
            <a:extLst>
              <a:ext uri="{FF2B5EF4-FFF2-40B4-BE49-F238E27FC236}">
                <a16:creationId xmlns:a16="http://schemas.microsoft.com/office/drawing/2014/main" id="{E2B2AFBD-1D1F-AE8A-B1FC-4B9BE0911F1B}"/>
              </a:ext>
            </a:extLst>
          </p:cNvPr>
          <p:cNvPicPr>
            <a:picLocks noChangeAspect="1"/>
          </p:cNvPicPr>
          <p:nvPr/>
        </p:nvPicPr>
        <p:blipFill>
          <a:blip r:embed="Re861aa1bcdca41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184" name="矩形 1">
            <a:extLst>
              <a:ext uri="{FF2B5EF4-FFF2-40B4-BE49-F238E27FC236}">
                <a16:creationId xmlns:a16="http://schemas.microsoft.com/office/drawing/2014/main" id="{F079DF2D-7727-F948-B674-9667E869FA14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广度测量：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19 个 L2S、5 个 LNC、8 个 LWA 共 32 个变体中，84.4% 仅凭简单提示即可抽取多个正确图像，三类范式均形成实际威胁。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领先工具：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Gemini-2.5-pro、Crawl4AI 与 Browser-Use 分别代表三类方案，最小可行召回达到 84.2%、98.0% 与 99.3%。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门槛变化：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五名专家手工编码平均 31 分 31 秒；新手借助三类工具约 1.5–4 分钟完成，困难度和人工介入评分也明显更低。</a:t>
            </a:r>
          </a:p>
        </p:txBody>
      </p:sp>
      <p:sp>
        <p:nvSpPr>
          <p:cNvPr id="100185" name="灯片编号占位符 3">
            <a:extLst>
              <a:ext uri="{FF2B5EF4-FFF2-40B4-BE49-F238E27FC236}">
                <a16:creationId xmlns:a16="http://schemas.microsoft.com/office/drawing/2014/main" id="{AA928ED1-6272-9964-6FBC-E4110E5C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t>9</a:t>
            </a:r>
          </a:p>
        </p:txBody>
      </p:sp>
      <p:pic>
        <p:nvPicPr>
          <p:cNvPr id="100214" name="PPW_VISUAL_S09" descr="L2S、LNC、LWA 三类范式的最佳召回与最小可行召回分组柱状图"/>
          <p:cNvPicPr>
            <a:picLocks noChangeAspect="1"/>
          </p:cNvPicPr>
          <p:nvPr/>
        </p:nvPicPr>
        <p:blipFill>
          <a:blip r:embed="R785e4cb696b9481b"/>
          <a:stretch>
            <a:fillRect/>
          </a:stretch>
        </p:blipFill>
        <p:spPr>
          <a:xfrm>
            <a:off x="2861481" y="3934835"/>
            <a:ext cx="6469037" cy="26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8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1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18F14-92E8-0705-AB5A-678146A26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87" name="矩形 45">
            <a:extLst>
              <a:ext uri="{FF2B5EF4-FFF2-40B4-BE49-F238E27FC236}">
                <a16:creationId xmlns:a16="http://schemas.microsoft.com/office/drawing/2014/main" id="{C2E714AB-31D3-6295-4BDB-BCD35AC2CAC9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LLMCrawlBench 把动态网页转成可复现的攻击测试集</a:t>
            </a:r>
          </a:p>
        </p:txBody>
      </p:sp>
      <p:sp>
        <p:nvSpPr>
          <p:cNvPr id="100188" name="矩形 4">
            <a:extLst>
              <a:ext uri="{FF2B5EF4-FFF2-40B4-BE49-F238E27FC236}">
                <a16:creationId xmlns:a16="http://schemas.microsoft.com/office/drawing/2014/main" id="{089A9397-C32C-F063-4D7A-04C7F347F201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89" name="矩形 20">
            <a:extLst>
              <a:ext uri="{FF2B5EF4-FFF2-40B4-BE49-F238E27FC236}">
                <a16:creationId xmlns:a16="http://schemas.microsoft.com/office/drawing/2014/main" id="{D38525DE-392F-D024-AAAB-323BFCD6AA12}"/>
              </a:ext>
            </a:extLst>
          </p:cNvPr>
          <p:cNvSpPr/>
          <p:nvPr/>
        </p:nvSpPr>
        <p:spPr>
          <a:xfrm>
            <a:off x="3231850" y="0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190" name="TextBox 6">
            <a:extLst>
              <a:ext uri="{FF2B5EF4-FFF2-40B4-BE49-F238E27FC236}">
                <a16:creationId xmlns:a16="http://schemas.microsoft.com/office/drawing/2014/main" id="{B6D9E27E-BE27-4E78-5242-9E9718E74D85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191" name="TextBox 7">
            <a:extLst>
              <a:ext uri="{FF2B5EF4-FFF2-40B4-BE49-F238E27FC236}">
                <a16:creationId xmlns:a16="http://schemas.microsoft.com/office/drawing/2014/main" id="{1972327E-4B32-ED59-6815-280B46C0D2C0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192" name="TextBox 9">
            <a:extLst>
              <a:ext uri="{FF2B5EF4-FFF2-40B4-BE49-F238E27FC236}">
                <a16:creationId xmlns:a16="http://schemas.microsoft.com/office/drawing/2014/main" id="{EEC9DD3A-51C3-52A0-F8D5-4B40EA8DEC93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193" name="TextBox 11">
            <a:extLst>
              <a:ext uri="{FF2B5EF4-FFF2-40B4-BE49-F238E27FC236}">
                <a16:creationId xmlns:a16="http://schemas.microsoft.com/office/drawing/2014/main" id="{92D79763-2B2D-931C-558B-C312955F8021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pic>
        <p:nvPicPr>
          <p:cNvPr id="100194" name="图片 25" descr="模板装饰图形（不承载论文内容）">
            <a:extLst>
              <a:ext uri="{FF2B5EF4-FFF2-40B4-BE49-F238E27FC236}">
                <a16:creationId xmlns:a16="http://schemas.microsoft.com/office/drawing/2014/main" id="{E2B2AFBD-1D1F-AE8A-B1FC-4B9BE0911F1B}"/>
              </a:ext>
            </a:extLst>
          </p:cNvPr>
          <p:cNvPicPr>
            <a:picLocks noChangeAspect="1"/>
          </p:cNvPicPr>
          <p:nvPr/>
        </p:nvPicPr>
        <p:blipFill>
          <a:blip r:embed="R9d735520e7ad47be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195" name="矩形 1">
            <a:extLst>
              <a:ext uri="{FF2B5EF4-FFF2-40B4-BE49-F238E27FC236}">
                <a16:creationId xmlns:a16="http://schemas.microsoft.com/office/drawing/2014/main" id="{F079DF2D-7727-F948-B674-9667E869FA14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覆盖范围：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从市场、旅行、设计、生活方式和娱乐五类高流量站点选取 50 个网站、237 个网页，收集 10,895 个主要内容图像。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离线复现：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对动态加载、CORS、srcset 与失效脚本做最小必要处理，并把离线渲染与时间戳截图并排核验，避免线上变化污染比较。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图像真值：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先自动抽取候选，再按尺寸、文件名和 DOM 区域过滤，最后由标注者保留产品图、文章图等主内容并排除徽标与导航图。</a:t>
            </a:r>
          </a:p>
        </p:txBody>
      </p:sp>
      <p:sp>
        <p:nvSpPr>
          <p:cNvPr id="100196" name="灯片编号占位符 3">
            <a:extLst>
              <a:ext uri="{FF2B5EF4-FFF2-40B4-BE49-F238E27FC236}">
                <a16:creationId xmlns:a16="http://schemas.microsoft.com/office/drawing/2014/main" id="{AA928ED1-6272-9964-6FBC-E4110E5C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t>8</a:t>
            </a:r>
          </a:p>
        </p:txBody>
      </p:sp>
      <p:pic>
        <p:nvPicPr>
          <p:cNvPr id="100213" name="PPW_VISUAL_S08" descr="从五类网站选择到离线快照、预处理、人工真值、关键统计和评估贡献的完整流程图"/>
          <p:cNvPicPr>
            <a:picLocks noChangeAspect="1"/>
          </p:cNvPicPr>
          <p:nvPr/>
        </p:nvPicPr>
        <p:blipFill>
          <a:blip r:embed="R84887df0b3cc4b67"/>
          <a:stretch>
            <a:fillRect/>
          </a:stretch>
        </p:blipFill>
        <p:spPr>
          <a:xfrm>
            <a:off x="2817125" y="4216267"/>
            <a:ext cx="6557749" cy="213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8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2.xml><?xml version="1.0" encoding="utf-8"?>
<p:sld xmlns:a16="http://schemas.microsoft.com/office/drawing/2014/main" xmlns:a14="http://schemas.microsoft.com/office/drawing/2010/main" xmlns:p14="http://schemas.microsoft.com/office/powerpoint/2010/main" xmlns:mc="http://schemas.openxmlformats.org/markup-compatibility/2006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18F14-92E8-0705-AB5A-678146A26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98" name="矩形 45">
            <a:extLst>
              <a:ext uri="{FF2B5EF4-FFF2-40B4-BE49-F238E27FC236}">
                <a16:creationId xmlns:a16="http://schemas.microsoft.com/office/drawing/2014/main" id="{C2E714AB-31D3-6295-4BDB-BCD35AC2CAC9}"/>
              </a:ext>
            </a:extLst>
          </p:cNvPr>
          <p:cNvSpPr/>
          <p:nvPr/>
        </p:nvSpPr>
        <p:spPr>
          <a:xfrm>
            <a:off x="374669" y="1016420"/>
            <a:ext cx="9895727" cy="72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Arial"/>
                <a:ea typeface="微软雅黑"/>
              </a:rPr>
              <a:t>三类 LLM 爬虫共同降低了抓取门槛</a:t>
            </a:r>
          </a:p>
        </p:txBody>
      </p:sp>
      <p:sp>
        <p:nvSpPr>
          <p:cNvPr id="100199" name="矩形 4">
            <a:extLst>
              <a:ext uri="{FF2B5EF4-FFF2-40B4-BE49-F238E27FC236}">
                <a16:creationId xmlns:a16="http://schemas.microsoft.com/office/drawing/2014/main" id="{089A9397-C32C-F063-4D7A-04C7F347F201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200" name="矩形 20">
            <a:extLst>
              <a:ext uri="{FF2B5EF4-FFF2-40B4-BE49-F238E27FC236}">
                <a16:creationId xmlns:a16="http://schemas.microsoft.com/office/drawing/2014/main" id="{D38525DE-392F-D024-AAAB-323BFCD6AA12}"/>
              </a:ext>
            </a:extLst>
          </p:cNvPr>
          <p:cNvSpPr/>
          <p:nvPr/>
        </p:nvSpPr>
        <p:spPr>
          <a:xfrm>
            <a:off x="3231850" y="0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201" name="TextBox 6">
            <a:extLst>
              <a:ext uri="{FF2B5EF4-FFF2-40B4-BE49-F238E27FC236}">
                <a16:creationId xmlns:a16="http://schemas.microsoft.com/office/drawing/2014/main" id="{B6D9E27E-BE27-4E78-5242-9E9718E74D85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100202" name="TextBox 7">
            <a:extLst>
              <a:ext uri="{FF2B5EF4-FFF2-40B4-BE49-F238E27FC236}">
                <a16:creationId xmlns:a16="http://schemas.microsoft.com/office/drawing/2014/main" id="{1972327E-4B32-ED59-6815-280B46C0D2C0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100203" name="TextBox 9">
            <a:extLst>
              <a:ext uri="{FF2B5EF4-FFF2-40B4-BE49-F238E27FC236}">
                <a16:creationId xmlns:a16="http://schemas.microsoft.com/office/drawing/2014/main" id="{EEC9DD3A-51C3-52A0-F8D5-4B40EA8DEC93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100204" name="TextBox 11">
            <a:extLst>
              <a:ext uri="{FF2B5EF4-FFF2-40B4-BE49-F238E27FC236}">
                <a16:creationId xmlns:a16="http://schemas.microsoft.com/office/drawing/2014/main" id="{92D79763-2B2D-931C-558B-C312955F8021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pic>
        <p:nvPicPr>
          <p:cNvPr id="100205" name="图片 25" descr="模板装饰图形（不承载论文内容）">
            <a:extLst>
              <a:ext uri="{FF2B5EF4-FFF2-40B4-BE49-F238E27FC236}">
                <a16:creationId xmlns:a16="http://schemas.microsoft.com/office/drawing/2014/main" id="{E2B2AFBD-1D1F-AE8A-B1FC-4B9BE0911F1B}"/>
              </a:ext>
            </a:extLst>
          </p:cNvPr>
          <p:cNvPicPr>
            <a:picLocks noChangeAspect="1"/>
          </p:cNvPicPr>
          <p:nvPr/>
        </p:nvPicPr>
        <p:blipFill>
          <a:blip r:embed="R6903be39a130498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00206" name="矩形 1">
            <a:extLst>
              <a:ext uri="{FF2B5EF4-FFF2-40B4-BE49-F238E27FC236}">
                <a16:creationId xmlns:a16="http://schemas.microsoft.com/office/drawing/2014/main" id="{F079DF2D-7727-F948-B674-9667E869FA14}"/>
              </a:ext>
            </a:extLst>
          </p:cNvPr>
          <p:cNvSpPr/>
          <p:nvPr/>
        </p:nvSpPr>
        <p:spPr>
          <a:xfrm>
            <a:off x="374668" y="1746000"/>
            <a:ext cx="11680697" cy="19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LLM-to-Script：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模型把自然语言需求翻译为 BeautifulSoup 或 Selenium 脚本，灵活但常需后处理；攻击者主要成本从编程转为提示细化与调试。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LLM-Native Crawler：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Crawl4AI 等工具把页面简化、模型理解和提取流程封装为现成管线，以较低操作门槛获得较高召回和开箱即用能力。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微软雅黑"/>
              </a:rPr>
              <a:t>LLM Web Agent：</a:t>
            </a:r>
            <a:r>
              <a:rPr lang="en-US" altLang="zh-CN" sz="1800" dirty="0">
                <a:solidFill>
                  <a:srgbClr val="000000"/>
                </a:solidFill>
                <a:latin typeface="Arial"/>
                <a:ea typeface="微软雅黑"/>
              </a:rPr>
              <a:t>Browser-Use 等结合 DOM 与界面交互，精度较高但执行较慢；纯视觉 UI Agent 对图像 URL 任务仍容易迷失或遗漏结构信息。</a:t>
            </a:r>
          </a:p>
        </p:txBody>
      </p:sp>
      <p:sp>
        <p:nvSpPr>
          <p:cNvPr id="100207" name="灯片编号占位符 3">
            <a:extLst>
              <a:ext uri="{FF2B5EF4-FFF2-40B4-BE49-F238E27FC236}">
                <a16:creationId xmlns:a16="http://schemas.microsoft.com/office/drawing/2014/main" id="{AA928ED1-6272-9964-6FBC-E4110E5C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t>7</a:t>
            </a:r>
          </a:p>
        </p:txBody>
      </p:sp>
      <p:pic>
        <p:nvPicPr>
          <p:cNvPr id="100212" name="PPW_VISUAL_S07" descr="L2S、LNC 和 LWA 的可运行数量、召回、MVR 与代表工具对比表"/>
          <p:cNvPicPr>
            <a:picLocks noChangeAspect="1"/>
          </p:cNvPicPr>
          <p:nvPr/>
        </p:nvPicPr>
        <p:blipFill>
          <a:blip r:embed="R8f8d9ba333ce45ef"/>
          <a:stretch>
            <a:fillRect/>
          </a:stretch>
        </p:blipFill>
        <p:spPr>
          <a:xfrm>
            <a:off x="2817125" y="3972561"/>
            <a:ext cx="6557749" cy="261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8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heme/theme1.xml><?xml version="1.0" encoding="utf-8"?>
<a:theme xmlns:thm15="http://schemas.microsoft.com/office/thememl/2012/main" xmlns:a="http://schemas.openxmlformats.org/drawingml/2006/main" name="Office 主题​​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15057</ap:TotalTime>
  <ap:Words>384</ap:Words>
  <ap:Application>Microsoft Office PowerPoint</ap:Application>
  <ap:PresentationFormat>宽屏</ap:PresentationFormat>
  <ap:Paragraphs>93</ap:Paragraphs>
  <ap:Slides>13</ap:Slides>
  <ap:Notes>13</ap:Notes>
  <ap:HiddenSlides>0</ap:HiddenSlides>
  <ap:MMClips>0</ap:MMClips>
  <ap:ScaleCrop>false</ap:ScaleCrop>
  <ap:HeadingPairs>
    <vt:vector baseType="variant" size="6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ap:HeadingPairs>
  <ap:TitlesOfParts>
    <vt:vector baseType="lpstr" size="18">
      <vt:lpstr>等线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ap:TitlesOfParts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逸飞 程</cp:lastModifiedBy>
  <cp:revision>894</cp:revision>
  <dcterms:created xsi:type="dcterms:W3CDTF">2016-11-24T09:20:00Z</dcterms:created>
  <dcterms:modified xsi:type="dcterms:W3CDTF">2026-07-21T13:12:05Z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KSOProductBuildVer">
    <vt:lpwstr>2052-10.1.0.6490</vt:lpwstr>
  </op:property>
  <op:property fmtid="{D5CDD505-2E9C-101B-9397-08002B2CF9AE}" pid="3" name="OfficeCLI.Version">
    <vt:lpwstr>1.0.140</vt:lpwstr>
  </op:property>
  <op:property fmtid="{D5CDD505-2E9C-101B-9397-08002B2CF9AE}" pid="4" name="OfficeCLI.LastModified">
    <vt:lpwstr>2026-07-23T04:51:06Z</vt:lpwstr>
  </op:property>
</op:Properties>
</file>